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463040"/>
            <a:ext cx="10728655" cy="1097280"/>
          </a:xfrm>
          <a:prstGeom prst="rect">
            <a:avLst/>
          </a:prstGeom>
          <a:noFill/>
        </p:spPr>
        <p:txBody>
          <a:bodyPr wrap="square">
            <a:spAutoFit/>
          </a:bodyPr>
          <a:lstStyle/>
          <a:p>
            <a:pPr>
              <a:spcAft>
                <a:spcPts val="2700"/>
              </a:spcAft>
            </a:pPr>
            <a:r>
              <a:rPr sz="6000" b="1">
                <a:solidFill>
                  <a:srgbClr val="FFFFFF"/>
                </a:solidFill>
              </a:rPr>
              <a:t>SANKHYA</a:t>
            </a:r>
          </a:p>
        </p:txBody>
      </p:sp>
      <p:sp>
        <p:nvSpPr>
          <p:cNvPr id="4" name="TextBox 3"/>
          <p:cNvSpPr txBox="1"/>
          <p:nvPr/>
        </p:nvSpPr>
        <p:spPr>
          <a:xfrm>
            <a:off x="731520" y="2560320"/>
            <a:ext cx="10728655" cy="1463040"/>
          </a:xfrm>
          <a:prstGeom prst="rect">
            <a:avLst/>
          </a:prstGeom>
          <a:noFill/>
        </p:spPr>
        <p:txBody>
          <a:bodyPr wrap="square">
            <a:spAutoFit/>
          </a:bodyPr>
          <a:lstStyle/>
          <a:p>
            <a:pPr>
              <a:spcAft>
                <a:spcPts val="900"/>
              </a:spcAft>
            </a:pPr>
            <a:r>
              <a:rPr sz="2000" b="0">
                <a:solidFill>
                  <a:srgbClr val="FFFFFF"/>
                </a:solidFill>
              </a:rPr>
              <a:t>An indigenous optimization solver: LP, MILP, convex QP and NLP, written from the textbooks in C++20, with a GPU first-order engine and an independent checker on every answer.</a:t>
            </a:r>
          </a:p>
          <a:p>
            <a:pPr>
              <a:spcAft>
                <a:spcPts val="900"/>
              </a:spcAft>
            </a:pPr>
            <a:r>
              <a:rPr sz="2000" b="0">
                <a:solidFill>
                  <a:srgbClr val="FFFFFF"/>
                </a:solidFill>
              </a:rPr>
              <a:t>Smart India Hackathon 2026 - problem statement SIH26119 - Mangalore Refinery and Petrochemicals Limited</a:t>
            </a:r>
          </a:p>
        </p:txBody>
      </p:sp>
      <p:sp>
        <p:nvSpPr>
          <p:cNvPr id="5" name="TextBox 4"/>
          <p:cNvSpPr txBox="1"/>
          <p:nvPr/>
        </p:nvSpPr>
        <p:spPr>
          <a:xfrm>
            <a:off x="731520" y="5577840"/>
            <a:ext cx="10728655" cy="914400"/>
          </a:xfrm>
          <a:prstGeom prst="rect">
            <a:avLst/>
          </a:prstGeom>
          <a:noFill/>
        </p:spPr>
        <p:txBody>
          <a:bodyPr wrap="square">
            <a:spAutoFit/>
          </a:bodyPr>
          <a:lstStyle/>
          <a:p>
            <a:pPr>
              <a:spcAft>
                <a:spcPts val="540"/>
              </a:spcAft>
            </a:pPr>
            <a:r>
              <a:rPr sz="1200" b="0">
                <a:solidFill>
                  <a:srgbClr val="F2F4F7"/>
                </a:solidFill>
              </a:rPr>
              <a:t>Every number in this deck is computed from a CSV in bench/results/ on main, named on the slide, by tools/make_deck.py; the same CSVs produce docs/REPORT.pdf and docs/BENCHMARKS.md. github.com/thegoodengineers/SANKHYA - sankhya-solver.vercel.app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914400"/>
          </a:xfrm>
          <a:prstGeom prst="rect">
            <a:avLst/>
          </a:prstGeom>
          <a:noFill/>
        </p:spPr>
        <p:txBody>
          <a:bodyPr wrap="square">
            <a:spAutoFit/>
          </a:bodyPr>
          <a:lstStyle/>
          <a:p>
            <a:pPr>
              <a:spcAft>
                <a:spcPts val="1080"/>
              </a:spcAft>
            </a:pPr>
            <a:r>
              <a:rPr sz="2400" b="1">
                <a:solidFill>
                  <a:srgbClr val="FFFFFF"/>
                </a:solidFill>
              </a:rPr>
              <a:t>The problem: a refinery plans in LPs, MILPs and QPs, on someone else's solver</a:t>
            </a:r>
          </a:p>
        </p:txBody>
      </p:sp>
      <p:sp>
        <p:nvSpPr>
          <p:cNvPr id="4" name="Rectangle 3"/>
          <p:cNvSpPr/>
          <p:nvPr/>
        </p:nvSpPr>
        <p:spPr>
          <a:xfrm>
            <a:off x="0" y="6446520"/>
            <a:ext cx="12191695" cy="4114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11277295" cy="365760"/>
          </a:xfrm>
          <a:prstGeom prst="rect">
            <a:avLst/>
          </a:prstGeom>
          <a:noFill/>
        </p:spPr>
        <p:txBody>
          <a:bodyPr wrap="square">
            <a:spAutoFit/>
          </a:bodyPr>
          <a:lstStyle/>
          <a:p>
            <a:pPr>
              <a:spcAft>
                <a:spcPts val="450"/>
              </a:spcAft>
            </a:pPr>
            <a:r>
              <a:rPr sz="1000" b="0">
                <a:solidFill>
                  <a:srgbClr val="555555"/>
                </a:solidFill>
              </a:rPr>
              <a:t>Source: the problem statement SIH26119 as issued; docs/PS26119_COVERAGE.md</a:t>
            </a:r>
          </a:p>
        </p:txBody>
      </p:sp>
      <p:sp>
        <p:nvSpPr>
          <p:cNvPr id="6" name="TextBox 5"/>
          <p:cNvSpPr txBox="1"/>
          <p:nvPr/>
        </p:nvSpPr>
        <p:spPr>
          <a:xfrm>
            <a:off x="457200" y="1280160"/>
            <a:ext cx="5669280" cy="4572000"/>
          </a:xfrm>
          <a:prstGeom prst="rect">
            <a:avLst/>
          </a:prstGeom>
          <a:noFill/>
        </p:spPr>
        <p:txBody>
          <a:bodyPr wrap="square">
            <a:spAutoFit/>
          </a:bodyPr>
          <a:lstStyle/>
          <a:p>
            <a:pPr>
              <a:spcAft>
                <a:spcPts val="675"/>
              </a:spcAft>
            </a:pPr>
            <a:r>
              <a:rPr sz="1500" b="0">
                <a:solidFill>
                  <a:srgbClr val="555555"/>
                </a:solidFill>
              </a:rPr>
              <a:t>Which crudes to buy, how hard to run each unit, how to blend to specification: the weekly plan is a linear program, the unit on/off and minimum-run decisions make it mixed-integer, and price-dependent blending makes it quadratic.</a:t>
            </a:r>
          </a:p>
          <a:p>
            <a:pPr>
              <a:spcAft>
                <a:spcPts val="675"/>
              </a:spcAft>
            </a:pPr>
            <a:r>
              <a:rPr sz="1500" b="0">
                <a:solidFill>
                  <a:srgbClr val="555555"/>
                </a:solidFill>
              </a:rPr>
              <a:t>The problem statement asks for an indigenous, GPU-accelerated solver as a sovereign alternative to CPLEX and Xpress: LP, MILP, QP, presolve, cuts, sensitivity, multi-core and GPU, benchmarked on Netlib, MIPLIB and Mittelmann, and not built on any existing solver.</a:t>
            </a:r>
          </a:p>
          <a:p>
            <a:pPr>
              <a:spcAft>
                <a:spcPts val="675"/>
              </a:spcAft>
            </a:pPr>
            <a:r>
              <a:rPr sz="1500" b="0">
                <a:solidFill>
                  <a:srgbClr val="555555"/>
                </a:solidFill>
              </a:rPr>
              <a:t>SANKHYA is that solver, from a blank repository on 25 August 2026. What follows is what is on main today, with the file behind each number.</a:t>
            </a:r>
          </a:p>
        </p:txBody>
      </p:sp>
      <p:sp>
        <p:nvSpPr>
          <p:cNvPr id="7" name="TextBox 6"/>
          <p:cNvSpPr txBox="1"/>
          <p:nvPr/>
        </p:nvSpPr>
        <p:spPr>
          <a:xfrm>
            <a:off x="6583680" y="1280160"/>
            <a:ext cx="5120640" cy="4572000"/>
          </a:xfrm>
          <a:prstGeom prst="rect">
            <a:avLst/>
          </a:prstGeom>
          <a:noFill/>
        </p:spPr>
        <p:txBody>
          <a:bodyPr wrap="square">
            <a:spAutoFit/>
          </a:bodyPr>
          <a:lstStyle/>
          <a:p>
            <a:pPr>
              <a:spcAft>
                <a:spcPts val="630"/>
              </a:spcAft>
            </a:pPr>
            <a:r>
              <a:rPr sz="1400" b="0">
                <a:solidFill>
                  <a:srgbClr val="142B4F"/>
                </a:solidFill>
              </a:rPr>
              <a:t>What a judge can do in five minutes</a:t>
            </a:r>
          </a:p>
          <a:p>
            <a:pPr>
              <a:spcAft>
                <a:spcPts val="630"/>
              </a:spcAft>
            </a:pPr>
            <a:r>
              <a:rPr sz="1400" b="0">
                <a:solidFill>
                  <a:srgbClr val="142B4F"/>
                </a:solidFill>
              </a:rPr>
              <a:t>1. pip install the wheel from the release, or unpack an archive: no compiler.</a:t>
            </a:r>
          </a:p>
          <a:p>
            <a:pPr>
              <a:spcAft>
                <a:spcPts val="630"/>
              </a:spcAft>
            </a:pPr>
            <a:r>
              <a:rPr sz="1400" b="0">
                <a:solidFill>
                  <a:srgbClr val="142B4F"/>
                </a:solidFill>
              </a:rPr>
              <a:t>2. sankhya solve demo/crude_blend.mps --write-sol blend.sol</a:t>
            </a:r>
          </a:p>
          <a:p>
            <a:pPr>
              <a:spcAft>
                <a:spcPts val="630"/>
              </a:spcAft>
            </a:pPr>
            <a:r>
              <a:rPr sz="1400" b="0">
                <a:solidFill>
                  <a:srgbClr val="142B4F"/>
                </a:solidFill>
              </a:rPr>
              <a:t>3. python tools/verify_solution.py demo/crude_blend.mps blend.sol: a checker that shares no code with the solver re-derives the answer.</a:t>
            </a:r>
          </a:p>
          <a:p>
            <a:pPr>
              <a:spcAft>
                <a:spcPts val="630"/>
              </a:spcAft>
            </a:pPr>
            <a:r>
              <a:rPr sz="1400" b="0">
                <a:solidFill>
                  <a:srgbClr val="142B4F"/>
                </a:solidFill>
              </a:rPr>
              <a:t>4. demo/finale.sh: one refinery MILP solved, proved in exact arithmetic, priced, broken and repaired, re-planned from yesterday's basis.</a:t>
            </a:r>
          </a:p>
          <a:p>
            <a:pPr>
              <a:spcAft>
                <a:spcPts val="630"/>
              </a:spcAft>
            </a:pPr>
            <a:r>
              <a:rPr sz="1400" b="0">
                <a:solidFill>
                  <a:srgbClr val="142B4F"/>
                </a:solidFill>
              </a:rPr>
              <a:t>5. Open docs/REPORT.pdf: every claim with its CSV and commit.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914400"/>
          </a:xfrm>
          <a:prstGeom prst="rect">
            <a:avLst/>
          </a:prstGeom>
          <a:noFill/>
        </p:spPr>
        <p:txBody>
          <a:bodyPr wrap="square">
            <a:spAutoFit/>
          </a:bodyPr>
          <a:lstStyle/>
          <a:p>
            <a:pPr>
              <a:spcAft>
                <a:spcPts val="1080"/>
              </a:spcAft>
            </a:pPr>
            <a:r>
              <a:rPr sz="2400" b="1">
                <a:solidFill>
                  <a:srgbClr val="FFFFFF"/>
                </a:solidFill>
              </a:rPr>
              <a:t>Architecture: one Model, one solve(), several engines, one checker outside</a:t>
            </a:r>
          </a:p>
        </p:txBody>
      </p:sp>
      <p:sp>
        <p:nvSpPr>
          <p:cNvPr id="4" name="Rectangle 3"/>
          <p:cNvSpPr/>
          <p:nvPr/>
        </p:nvSpPr>
        <p:spPr>
          <a:xfrm>
            <a:off x="0" y="6446520"/>
            <a:ext cx="12191695" cy="4114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11277295" cy="365760"/>
          </a:xfrm>
          <a:prstGeom prst="rect">
            <a:avLst/>
          </a:prstGeom>
          <a:noFill/>
        </p:spPr>
        <p:txBody>
          <a:bodyPr wrap="square">
            <a:spAutoFit/>
          </a:bodyPr>
          <a:lstStyle/>
          <a:p>
            <a:pPr>
              <a:spcAft>
                <a:spcPts val="450"/>
              </a:spcAft>
            </a:pPr>
            <a:r>
              <a:rPr sz="1000" b="0">
                <a:solidFill>
                  <a:srgbClr val="555555"/>
                </a:solidFill>
              </a:rPr>
              <a:t>Source: docs/ARCHITECTURE.md; docs/PROVENANCE.md section 3 for the paper above each file</a:t>
            </a:r>
          </a:p>
        </p:txBody>
      </p:sp>
      <p:sp>
        <p:nvSpPr>
          <p:cNvPr id="6" name="Rectangle 5"/>
          <p:cNvSpPr/>
          <p:nvPr/>
        </p:nvSpPr>
        <p:spPr>
          <a:xfrm>
            <a:off x="457200" y="1280160"/>
            <a:ext cx="2682163" cy="457200"/>
          </a:xfrm>
          <a:prstGeom prst="rect">
            <a:avLst/>
          </a:prstGeom>
          <a:solidFill>
            <a:srgbClr val="D96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25880"/>
            <a:ext cx="2682163" cy="457200"/>
          </a:xfrm>
          <a:prstGeom prst="rect">
            <a:avLst/>
          </a:prstGeom>
          <a:noFill/>
        </p:spPr>
        <p:txBody>
          <a:bodyPr wrap="square">
            <a:spAutoFit/>
          </a:bodyPr>
          <a:lstStyle/>
          <a:p>
            <a:pPr>
              <a:spcAft>
                <a:spcPts val="720"/>
              </a:spcAft>
            </a:pPr>
            <a:r>
              <a:rPr sz="1600" b="1">
                <a:solidFill>
                  <a:srgbClr val="FFFFFF"/>
                </a:solidFill>
              </a:rPr>
              <a:t>Read</a:t>
            </a:r>
          </a:p>
        </p:txBody>
      </p:sp>
      <p:sp>
        <p:nvSpPr>
          <p:cNvPr id="8" name="TextBox 7"/>
          <p:cNvSpPr txBox="1"/>
          <p:nvPr/>
        </p:nvSpPr>
        <p:spPr>
          <a:xfrm>
            <a:off x="457200" y="1828800"/>
            <a:ext cx="2636443" cy="4389120"/>
          </a:xfrm>
          <a:prstGeom prst="rect">
            <a:avLst/>
          </a:prstGeom>
          <a:noFill/>
        </p:spPr>
        <p:txBody>
          <a:bodyPr wrap="square">
            <a:spAutoFit/>
          </a:bodyPr>
          <a:lstStyle/>
          <a:p>
            <a:pPr>
              <a:spcAft>
                <a:spcPts val="540"/>
              </a:spcAft>
            </a:pPr>
            <a:r>
              <a:rPr sz="1200" b="0">
                <a:solidFill>
                  <a:srgbClr val="555555"/>
                </a:solidFill>
              </a:rPr>
              <a:t>- MPS and LP readers (src/io)</a:t>
            </a:r>
          </a:p>
          <a:p>
            <a:pPr>
              <a:spcAft>
                <a:spcPts val="540"/>
              </a:spcAft>
            </a:pPr>
            <a:r>
              <a:rPr sz="1200" b="0">
                <a:solidFill>
                  <a:srgbClr val="555555"/>
                </a:solidFill>
              </a:rPr>
              <a:t>- gz inputs</a:t>
            </a:r>
          </a:p>
          <a:p>
            <a:pPr>
              <a:spcAft>
                <a:spcPts val="540"/>
              </a:spcAft>
            </a:pPr>
            <a:r>
              <a:rPr sz="1200" b="0">
                <a:solidFill>
                  <a:srgbClr val="555555"/>
                </a:solidFill>
              </a:rPr>
              <a:t>- Model: the frozen interface every reader produces and every engine consumes</a:t>
            </a:r>
          </a:p>
        </p:txBody>
      </p:sp>
      <p:sp>
        <p:nvSpPr>
          <p:cNvPr id="9" name="Rectangle 8"/>
          <p:cNvSpPr/>
          <p:nvPr/>
        </p:nvSpPr>
        <p:spPr>
          <a:xfrm>
            <a:off x="3276523" y="1280160"/>
            <a:ext cx="2682163" cy="457200"/>
          </a:xfrm>
          <a:prstGeom prst="rect">
            <a:avLst/>
          </a:prstGeom>
          <a:solidFill>
            <a:srgbClr val="D96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76523" y="1325880"/>
            <a:ext cx="2682163" cy="457200"/>
          </a:xfrm>
          <a:prstGeom prst="rect">
            <a:avLst/>
          </a:prstGeom>
          <a:noFill/>
        </p:spPr>
        <p:txBody>
          <a:bodyPr wrap="square">
            <a:spAutoFit/>
          </a:bodyPr>
          <a:lstStyle/>
          <a:p>
            <a:pPr>
              <a:spcAft>
                <a:spcPts val="720"/>
              </a:spcAft>
            </a:pPr>
            <a:r>
              <a:rPr sz="1600" b="1">
                <a:solidFill>
                  <a:srgbClr val="FFFFFF"/>
                </a:solidFill>
              </a:rPr>
              <a:t>Presolve</a:t>
            </a:r>
          </a:p>
        </p:txBody>
      </p:sp>
      <p:sp>
        <p:nvSpPr>
          <p:cNvPr id="11" name="TextBox 10"/>
          <p:cNvSpPr txBox="1"/>
          <p:nvPr/>
        </p:nvSpPr>
        <p:spPr>
          <a:xfrm>
            <a:off x="3276523" y="1828800"/>
            <a:ext cx="2636443" cy="4389120"/>
          </a:xfrm>
          <a:prstGeom prst="rect">
            <a:avLst/>
          </a:prstGeom>
          <a:noFill/>
        </p:spPr>
        <p:txBody>
          <a:bodyPr wrap="square">
            <a:spAutoFit/>
          </a:bodyPr>
          <a:lstStyle/>
          <a:p>
            <a:pPr>
              <a:spcAft>
                <a:spcPts val="540"/>
              </a:spcAft>
            </a:pPr>
            <a:r>
              <a:rPr sz="1200" b="0">
                <a:solidFill>
                  <a:srgbClr val="555555"/>
                </a:solidFill>
              </a:rPr>
              <a:t>- reductions with a postsolve stack (src/presolve)</a:t>
            </a:r>
          </a:p>
          <a:p>
            <a:pPr>
              <a:spcAft>
                <a:spcPts val="540"/>
              </a:spcAft>
            </a:pPr>
            <a:r>
              <a:rPr sz="1200" b="0">
                <a:solidFill>
                  <a:srgbClr val="555555"/>
                </a:solidFill>
              </a:rPr>
              <a:t>- scaling by powers of two, geometric prescaling on retry</a:t>
            </a:r>
          </a:p>
          <a:p>
            <a:pPr>
              <a:spcAft>
                <a:spcPts val="540"/>
              </a:spcAft>
            </a:pPr>
            <a:r>
              <a:rPr sz="1200" b="0">
                <a:solidFill>
                  <a:srgbClr val="555555"/>
                </a:solidFill>
              </a:rPr>
              <a:t>- convexity test for a QP: LDL^T, a negative pivot is the certificate</a:t>
            </a:r>
          </a:p>
        </p:txBody>
      </p:sp>
      <p:sp>
        <p:nvSpPr>
          <p:cNvPr id="12" name="Rectangle 11"/>
          <p:cNvSpPr/>
          <p:nvPr/>
        </p:nvSpPr>
        <p:spPr>
          <a:xfrm>
            <a:off x="6095847" y="1280160"/>
            <a:ext cx="2682163" cy="457200"/>
          </a:xfrm>
          <a:prstGeom prst="rect">
            <a:avLst/>
          </a:prstGeom>
          <a:solidFill>
            <a:srgbClr val="D96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95847" y="1325880"/>
            <a:ext cx="2682163" cy="457200"/>
          </a:xfrm>
          <a:prstGeom prst="rect">
            <a:avLst/>
          </a:prstGeom>
          <a:noFill/>
        </p:spPr>
        <p:txBody>
          <a:bodyPr wrap="square">
            <a:spAutoFit/>
          </a:bodyPr>
          <a:lstStyle/>
          <a:p>
            <a:pPr>
              <a:spcAft>
                <a:spcPts val="720"/>
              </a:spcAft>
            </a:pPr>
            <a:r>
              <a:rPr sz="1600" b="1">
                <a:solidFill>
                  <a:srgbClr val="FFFFFF"/>
                </a:solidFill>
              </a:rPr>
              <a:t>Solve</a:t>
            </a:r>
          </a:p>
        </p:txBody>
      </p:sp>
      <p:sp>
        <p:nvSpPr>
          <p:cNvPr id="14" name="TextBox 13"/>
          <p:cNvSpPr txBox="1"/>
          <p:nvPr/>
        </p:nvSpPr>
        <p:spPr>
          <a:xfrm>
            <a:off x="6095847" y="1828800"/>
            <a:ext cx="2636443" cy="4389120"/>
          </a:xfrm>
          <a:prstGeom prst="rect">
            <a:avLst/>
          </a:prstGeom>
          <a:noFill/>
        </p:spPr>
        <p:txBody>
          <a:bodyPr wrap="square">
            <a:spAutoFit/>
          </a:bodyPr>
          <a:lstStyle/>
          <a:p>
            <a:pPr>
              <a:spcAft>
                <a:spcPts val="540"/>
              </a:spcAft>
            </a:pPr>
            <a:r>
              <a:rPr sz="1200" b="0">
                <a:solidFill>
                  <a:srgbClr val="555555"/>
                </a:solidFill>
              </a:rPr>
              <a:t>- revised primal and dual simplex: Markowitz LU, Forrest-Tomlin, dual steepest edge (src/simplex, src/la)</a:t>
            </a:r>
          </a:p>
          <a:p>
            <a:pPr>
              <a:spcAft>
                <a:spcPts val="540"/>
              </a:spcAft>
            </a:pPr>
            <a:r>
              <a:rPr sz="1200" b="0">
                <a:solidFill>
                  <a:srgbClr val="555555"/>
                </a:solidFill>
              </a:rPr>
              <a:t>- restarted PDHG on the CPU and, through CUDA, on the card (src/pdhg, src/gpu)</a:t>
            </a:r>
          </a:p>
          <a:p>
            <a:pPr>
              <a:spcAft>
                <a:spcPts val="540"/>
              </a:spcAft>
            </a:pPr>
            <a:r>
              <a:rPr sz="1200" b="0">
                <a:solidFill>
                  <a:srgbClr val="555555"/>
                </a:solidFill>
              </a:rPr>
              <a:t>- Mehrotra interior point, sparse LDL^T, crossover (src/ipm)</a:t>
            </a:r>
          </a:p>
          <a:p>
            <a:pPr>
              <a:spcAft>
                <a:spcPts val="540"/>
              </a:spcAft>
            </a:pPr>
            <a:r>
              <a:rPr sz="1200" b="0">
                <a:solidFill>
                  <a:srgbClr val="555555"/>
                </a:solidFill>
              </a:rPr>
              <a:t>- proximal interior point for convex QP (src/qp)</a:t>
            </a:r>
          </a:p>
          <a:p>
            <a:pPr>
              <a:spcAft>
                <a:spcPts val="540"/>
              </a:spcAft>
            </a:pPr>
            <a:r>
              <a:rPr sz="1200" b="0">
                <a:solidFill>
                  <a:srgbClr val="555555"/>
                </a:solidFill>
              </a:rPr>
              <a:t>- branch and cut: cuts, heuristics, SOS, certificates (src/mip)</a:t>
            </a:r>
          </a:p>
          <a:p>
            <a:pPr>
              <a:spcAft>
                <a:spcPts val="540"/>
              </a:spcAft>
            </a:pPr>
            <a:r>
              <a:rPr sz="1200" b="0">
                <a:solidFill>
                  <a:srgbClr val="555555"/>
                </a:solidFill>
              </a:rPr>
              <a:t>- local NLP and convex MINLP (src/nlp)</a:t>
            </a:r>
          </a:p>
        </p:txBody>
      </p:sp>
      <p:sp>
        <p:nvSpPr>
          <p:cNvPr id="15" name="Rectangle 14"/>
          <p:cNvSpPr/>
          <p:nvPr/>
        </p:nvSpPr>
        <p:spPr>
          <a:xfrm>
            <a:off x="8915171" y="1280160"/>
            <a:ext cx="2682163" cy="457200"/>
          </a:xfrm>
          <a:prstGeom prst="rect">
            <a:avLst/>
          </a:prstGeom>
          <a:solidFill>
            <a:srgbClr val="D96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15171" y="1325880"/>
            <a:ext cx="2682163" cy="457200"/>
          </a:xfrm>
          <a:prstGeom prst="rect">
            <a:avLst/>
          </a:prstGeom>
          <a:noFill/>
        </p:spPr>
        <p:txBody>
          <a:bodyPr wrap="square">
            <a:spAutoFit/>
          </a:bodyPr>
          <a:lstStyle/>
          <a:p>
            <a:pPr>
              <a:spcAft>
                <a:spcPts val="720"/>
              </a:spcAft>
            </a:pPr>
            <a:r>
              <a:rPr sz="1600" b="1">
                <a:solidFill>
                  <a:srgbClr val="FFFFFF"/>
                </a:solidFill>
              </a:rPr>
              <a:t>Report</a:t>
            </a:r>
          </a:p>
        </p:txBody>
      </p:sp>
      <p:sp>
        <p:nvSpPr>
          <p:cNvPr id="17" name="TextBox 16"/>
          <p:cNvSpPr txBox="1"/>
          <p:nvPr/>
        </p:nvSpPr>
        <p:spPr>
          <a:xfrm>
            <a:off x="8915171" y="1828800"/>
            <a:ext cx="2636443" cy="4389120"/>
          </a:xfrm>
          <a:prstGeom prst="rect">
            <a:avLst/>
          </a:prstGeom>
          <a:noFill/>
        </p:spPr>
        <p:txBody>
          <a:bodyPr wrap="square">
            <a:spAutoFit/>
          </a:bodyPr>
          <a:lstStyle/>
          <a:p>
            <a:pPr>
              <a:spcAft>
                <a:spcPts val="540"/>
              </a:spcAft>
            </a:pPr>
            <a:r>
              <a:rPr sz="1200" b="0">
                <a:solidFill>
                  <a:srgbClr val="555555"/>
                </a:solidFill>
              </a:rPr>
              <a:t>- Solution: objective, point, duals, ranging, basis, certificate</a:t>
            </a:r>
          </a:p>
          <a:p>
            <a:pPr>
              <a:spcAft>
                <a:spcPts val="540"/>
              </a:spcAft>
            </a:pPr>
            <a:r>
              <a:rPr sz="1200" b="0">
                <a:solidFill>
                  <a:srgbClr val="555555"/>
                </a:solidFill>
              </a:rPr>
              <a:t>- C API, CLI, ctypes Python bindings, PuLP / Pyomo / CVXPY adapters</a:t>
            </a:r>
          </a:p>
          <a:p>
            <a:pPr>
              <a:spcAft>
                <a:spcPts val="540"/>
              </a:spcAft>
            </a:pPr>
            <a:r>
              <a:rPr sz="1200" b="0">
                <a:solidFill>
                  <a:srgbClr val="555555"/>
                </a:solidFill>
              </a:rPr>
              <a:t>- tools/verify_solution.py and tools/verify_certificate.py: read only the files, never link the solver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914400"/>
          </a:xfrm>
          <a:prstGeom prst="rect">
            <a:avLst/>
          </a:prstGeom>
          <a:noFill/>
        </p:spPr>
        <p:txBody>
          <a:bodyPr wrap="square">
            <a:spAutoFit/>
          </a:bodyPr>
          <a:lstStyle/>
          <a:p>
            <a:pPr>
              <a:spcAft>
                <a:spcPts val="1080"/>
              </a:spcAft>
            </a:pPr>
            <a:r>
              <a:rPr sz="2400" b="1">
                <a:solidFill>
                  <a:srgbClr val="FFFFFF"/>
                </a:solidFill>
              </a:rPr>
              <a:t>Correctness evidence: an answer is reported only after a separate program agrees</a:t>
            </a:r>
          </a:p>
        </p:txBody>
      </p:sp>
      <p:sp>
        <p:nvSpPr>
          <p:cNvPr id="4" name="Rectangle 3"/>
          <p:cNvSpPr/>
          <p:nvPr/>
        </p:nvSpPr>
        <p:spPr>
          <a:xfrm>
            <a:off x="0" y="6446520"/>
            <a:ext cx="12191695" cy="4114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11277295" cy="365760"/>
          </a:xfrm>
          <a:prstGeom prst="rect">
            <a:avLst/>
          </a:prstGeom>
          <a:noFill/>
        </p:spPr>
        <p:txBody>
          <a:bodyPr wrap="square">
            <a:spAutoFit/>
          </a:bodyPr>
          <a:lstStyle/>
          <a:p>
            <a:pPr>
              <a:spcAft>
                <a:spcPts val="450"/>
              </a:spcAft>
            </a:pPr>
            <a:r>
              <a:rPr sz="1000" b="0">
                <a:solidFill>
                  <a:srgbClr val="555555"/>
                </a:solidFill>
              </a:rPr>
              <a:t>Source: bench/results/netlib-full-9094e1c.csv, bench/results/netlib-infeasible-5a39fb2.csv, bench/results/certified-gap-netlib-full-0134c92.csv, bench/results/exact-sensitivity-60455ce.csv, bench/results/stress-d32b3847.csv</a:t>
            </a:r>
          </a:p>
        </p:txBody>
      </p:sp>
      <p:graphicFrame>
        <p:nvGraphicFramePr>
          <p:cNvPr id="6" name="Table 5"/>
          <p:cNvGraphicFramePr>
            <a:graphicFrameLocks noGrp="1"/>
          </p:cNvGraphicFramePr>
          <p:nvPr/>
        </p:nvGraphicFramePr>
        <p:xfrm>
          <a:off x="457200" y="1280160"/>
          <a:ext cx="11277295" cy="2560320"/>
        </p:xfrm>
        <a:graphic>
          <a:graphicData uri="http://schemas.openxmlformats.org/drawingml/2006/table">
            <a:tbl>
              <a:tblPr firstRow="1" bandRow="1">
                <a:tableStyleId>{5C22544A-7EE6-4342-B048-85BDC9FD1C3A}</a:tableStyleId>
              </a:tblPr>
              <a:tblGrid>
                <a:gridCol w="2819323"/>
                <a:gridCol w="2819323"/>
                <a:gridCol w="2819323"/>
                <a:gridCol w="2819326"/>
              </a:tblGrid>
              <a:tr h="320040">
                <a:tc>
                  <a:txBody>
                    <a:bodyPr/>
                    <a:lstStyle/>
                    <a:p>
                      <a:r>
                        <a:rPr sz="1100" b="1">
                          <a:solidFill>
                            <a:srgbClr val="FFFFFF"/>
                          </a:solidFill>
                        </a:rPr>
                        <a:t>what is checked</a:t>
                      </a:r>
                    </a:p>
                  </a:txBody>
                  <a:tcPr>
                    <a:solidFill>
                      <a:srgbClr val="142B4F"/>
                    </a:solidFill>
                  </a:tcPr>
                </a:tc>
                <a:tc>
                  <a:txBody>
                    <a:bodyPr/>
                    <a:lstStyle/>
                    <a:p>
                      <a:r>
                        <a:rPr sz="1100" b="1">
                          <a:solidFill>
                            <a:srgbClr val="FFFFFF"/>
                          </a:solidFill>
                        </a:rPr>
                        <a:t>result</a:t>
                      </a:r>
                    </a:p>
                  </a:txBody>
                  <a:tcPr>
                    <a:solidFill>
                      <a:srgbClr val="142B4F"/>
                    </a:solidFill>
                  </a:tcPr>
                </a:tc>
                <a:tc>
                  <a:txBody>
                    <a:bodyPr/>
                    <a:lstStyle/>
                    <a:p>
                      <a:r>
                        <a:rPr sz="1100" b="1">
                          <a:solidFill>
                            <a:srgbClr val="FFFFFF"/>
                          </a:solidFill>
                        </a:rPr>
                        <a:t>CSV</a:t>
                      </a:r>
                    </a:p>
                  </a:txBody>
                  <a:tcPr>
                    <a:solidFill>
                      <a:srgbClr val="142B4F"/>
                    </a:solidFill>
                  </a:tcPr>
                </a:tc>
                <a:tc>
                  <a:txBody>
                    <a:bodyPr/>
                    <a:lstStyle/>
                    <a:p>
                      <a:r>
                        <a:rPr sz="1100" b="1">
                          <a:solidFill>
                            <a:srgbClr val="FFFFFF"/>
                          </a:solidFill>
                        </a:rPr>
                        <a:t>commit</a:t>
                      </a:r>
                    </a:p>
                  </a:txBody>
                  <a:tcPr>
                    <a:solidFill>
                      <a:srgbClr val="142B4F"/>
                    </a:solidFill>
                  </a:tcPr>
                </a:tc>
              </a:tr>
              <a:tr h="320040">
                <a:tc>
                  <a:txBody>
                    <a:bodyPr/>
                    <a:lstStyle/>
                    <a:p>
                      <a:r>
                        <a:rPr sz="1100" b="0">
                          <a:solidFill>
                            <a:srgbClr val="555555"/>
                          </a:solidFill>
                        </a:rPr>
                        <a:t>Netlib LP, full set: accepted by the independent verifier</a:t>
                      </a:r>
                    </a:p>
                  </a:txBody>
                  <a:tcPr>
                    <a:solidFill>
                      <a:srgbClr val="FFFFFF"/>
                    </a:solidFill>
                  </a:tcPr>
                </a:tc>
                <a:tc>
                  <a:txBody>
                    <a:bodyPr/>
                    <a:lstStyle/>
                    <a:p>
                      <a:r>
                        <a:rPr sz="1100" b="0">
                          <a:solidFill>
                            <a:srgbClr val="555555"/>
                          </a:solidFill>
                        </a:rPr>
                        <a:t>92 of 92</a:t>
                      </a:r>
                    </a:p>
                  </a:txBody>
                  <a:tcPr>
                    <a:solidFill>
                      <a:srgbClr val="FFFFFF"/>
                    </a:solidFill>
                  </a:tcPr>
                </a:tc>
                <a:tc>
                  <a:txBody>
                    <a:bodyPr/>
                    <a:lstStyle/>
                    <a:p>
                      <a:r>
                        <a:rPr sz="1100" b="0">
                          <a:solidFill>
                            <a:srgbClr val="555555"/>
                          </a:solidFill>
                        </a:rPr>
                        <a:t>bench/results/netlib-full-9094e1c.csv</a:t>
                      </a:r>
                    </a:p>
                  </a:txBody>
                  <a:tcPr>
                    <a:solidFill>
                      <a:srgbClr val="FFFFFF"/>
                    </a:solidFill>
                  </a:tcPr>
                </a:tc>
                <a:tc>
                  <a:txBody>
                    <a:bodyPr/>
                    <a:lstStyle/>
                    <a:p>
                      <a:r>
                        <a:rPr sz="1100" b="0">
                          <a:solidFill>
                            <a:srgbClr val="555555"/>
                          </a:solidFill>
                        </a:rPr>
                        <a:t>9094e1c</a:t>
                      </a:r>
                    </a:p>
                  </a:txBody>
                  <a:tcPr>
                    <a:solidFill>
                      <a:srgbClr val="FFFFFF"/>
                    </a:solidFill>
                  </a:tcPr>
                </a:tc>
              </a:tr>
              <a:tr h="320040">
                <a:tc>
                  <a:txBody>
                    <a:bodyPr/>
                    <a:lstStyle/>
                    <a:p>
                      <a:r>
                        <a:rPr sz="1100" b="0">
                          <a:solidFill>
                            <a:srgbClr val="555555"/>
                          </a:solidFill>
                        </a:rPr>
                        <a:t>Netlib LP: within 1e-6 of Koch's exact rational optimum and verified</a:t>
                      </a:r>
                    </a:p>
                  </a:txBody>
                  <a:tcPr>
                    <a:solidFill>
                      <a:srgbClr val="F2F4F7"/>
                    </a:solidFill>
                  </a:tcPr>
                </a:tc>
                <a:tc>
                  <a:txBody>
                    <a:bodyPr/>
                    <a:lstStyle/>
                    <a:p>
                      <a:r>
                        <a:rPr sz="1100" b="0">
                          <a:solidFill>
                            <a:srgbClr val="555555"/>
                          </a:solidFill>
                        </a:rPr>
                        <a:t>90 of 92</a:t>
                      </a:r>
                    </a:p>
                  </a:txBody>
                  <a:tcPr>
                    <a:solidFill>
                      <a:srgbClr val="F2F4F7"/>
                    </a:solidFill>
                  </a:tcPr>
                </a:tc>
                <a:tc>
                  <a:txBody>
                    <a:bodyPr/>
                    <a:lstStyle/>
                    <a:p>
                      <a:r>
                        <a:rPr sz="1100" b="0">
                          <a:solidFill>
                            <a:srgbClr val="555555"/>
                          </a:solidFill>
                        </a:rPr>
                        <a:t>bench/results/netlib-full-9094e1c.csv</a:t>
                      </a:r>
                    </a:p>
                  </a:txBody>
                  <a:tcPr>
                    <a:solidFill>
                      <a:srgbClr val="F2F4F7"/>
                    </a:solidFill>
                  </a:tcPr>
                </a:tc>
                <a:tc>
                  <a:txBody>
                    <a:bodyPr/>
                    <a:lstStyle/>
                    <a:p>
                      <a:r>
                        <a:rPr sz="1100" b="0">
                          <a:solidFill>
                            <a:srgbClr val="555555"/>
                          </a:solidFill>
                        </a:rPr>
                        <a:t>9094e1c</a:t>
                      </a:r>
                    </a:p>
                  </a:txBody>
                  <a:tcPr>
                    <a:solidFill>
                      <a:srgbClr val="F2F4F7"/>
                    </a:solidFill>
                  </a:tcPr>
                </a:tc>
              </a:tr>
              <a:tr h="320040">
                <a:tc>
                  <a:txBody>
                    <a:bodyPr/>
                    <a:lstStyle/>
                    <a:p>
                      <a:r>
                        <a:rPr sz="1100" b="0">
                          <a:solidFill>
                            <a:srgbClr val="555555"/>
                          </a:solidFill>
                        </a:rPr>
                        <a:t>Netlib infeasible LPs: verdict with a Farkas certificate the verifier accepts</a:t>
                      </a:r>
                    </a:p>
                  </a:txBody>
                  <a:tcPr>
                    <a:solidFill>
                      <a:srgbClr val="FFFFFF"/>
                    </a:solidFill>
                  </a:tcPr>
                </a:tc>
                <a:tc>
                  <a:txBody>
                    <a:bodyPr/>
                    <a:lstStyle/>
                    <a:p>
                      <a:r>
                        <a:rPr sz="1100" b="0">
                          <a:solidFill>
                            <a:srgbClr val="555555"/>
                          </a:solidFill>
                        </a:rPr>
                        <a:t>28 of 29</a:t>
                      </a:r>
                    </a:p>
                  </a:txBody>
                  <a:tcPr>
                    <a:solidFill>
                      <a:srgbClr val="FFFFFF"/>
                    </a:solidFill>
                  </a:tcPr>
                </a:tc>
                <a:tc>
                  <a:txBody>
                    <a:bodyPr/>
                    <a:lstStyle/>
                    <a:p>
                      <a:r>
                        <a:rPr sz="1100" b="0">
                          <a:solidFill>
                            <a:srgbClr val="555555"/>
                          </a:solidFill>
                        </a:rPr>
                        <a:t>bench/results/netlib-infeasible-5a39fb2.csv</a:t>
                      </a:r>
                    </a:p>
                  </a:txBody>
                  <a:tcPr>
                    <a:solidFill>
                      <a:srgbClr val="FFFFFF"/>
                    </a:solidFill>
                  </a:tcPr>
                </a:tc>
                <a:tc>
                  <a:txBody>
                    <a:bodyPr/>
                    <a:lstStyle/>
                    <a:p>
                      <a:r>
                        <a:rPr sz="1100" b="0">
                          <a:solidFill>
                            <a:srgbClr val="555555"/>
                          </a:solidFill>
                        </a:rPr>
                        <a:t>5a39fb2</a:t>
                      </a:r>
                    </a:p>
                  </a:txBody>
                  <a:tcPr>
                    <a:solidFill>
                      <a:srgbClr val="FFFFFF"/>
                    </a:solidFill>
                  </a:tcPr>
                </a:tc>
              </a:tr>
              <a:tr h="320040">
                <a:tc>
                  <a:txBody>
                    <a:bodyPr/>
                    <a:lstStyle/>
                    <a:p>
                      <a:r>
                        <a:rPr sz="1100" b="0">
                          <a:solidFill>
                            <a:srgbClr val="555555"/>
                          </a:solidFill>
                        </a:rPr>
                        <a:t>Optimal Netlib answers with a rigorous (Neumaier-Shcherbina) bound within 1e-6</a:t>
                      </a:r>
                    </a:p>
                  </a:txBody>
                  <a:tcPr>
                    <a:solidFill>
                      <a:srgbClr val="F2F4F7"/>
                    </a:solidFill>
                  </a:tcPr>
                </a:tc>
                <a:tc>
                  <a:txBody>
                    <a:bodyPr/>
                    <a:lstStyle/>
                    <a:p>
                      <a:r>
                        <a:rPr sz="1100" b="0">
                          <a:solidFill>
                            <a:srgbClr val="555555"/>
                          </a:solidFill>
                        </a:rPr>
                        <a:t>73 of 93</a:t>
                      </a:r>
                    </a:p>
                  </a:txBody>
                  <a:tcPr>
                    <a:solidFill>
                      <a:srgbClr val="F2F4F7"/>
                    </a:solidFill>
                  </a:tcPr>
                </a:tc>
                <a:tc>
                  <a:txBody>
                    <a:bodyPr/>
                    <a:lstStyle/>
                    <a:p>
                      <a:r>
                        <a:rPr sz="1100" b="0">
                          <a:solidFill>
                            <a:srgbClr val="555555"/>
                          </a:solidFill>
                        </a:rPr>
                        <a:t>bench/results/certified-gap-netlib-full-0134c92.csv</a:t>
                      </a:r>
                    </a:p>
                  </a:txBody>
                  <a:tcPr>
                    <a:solidFill>
                      <a:srgbClr val="F2F4F7"/>
                    </a:solidFill>
                  </a:tcPr>
                </a:tc>
                <a:tc>
                  <a:txBody>
                    <a:bodyPr/>
                    <a:lstStyle/>
                    <a:p>
                      <a:r>
                        <a:rPr sz="1100" b="0">
                          <a:solidFill>
                            <a:srgbClr val="555555"/>
                          </a:solidFill>
                        </a:rPr>
                        <a:t>0134c92</a:t>
                      </a:r>
                    </a:p>
                  </a:txBody>
                  <a:tcPr>
                    <a:solidFill>
                      <a:srgbClr val="F2F4F7"/>
                    </a:solidFill>
                  </a:tcPr>
                </a:tc>
              </a:tr>
              <a:tr h="320040">
                <a:tc>
                  <a:txBody>
                    <a:bodyPr/>
                    <a:lstStyle/>
                    <a:p>
                      <a:r>
                        <a:rPr sz="1100" b="0">
                          <a:solidFill>
                            <a:srgbClr val="555555"/>
                          </a:solidFill>
                        </a:rPr>
                        <a:t>Duals, reduced costs and ranges re-derived in rational arithmetic (LPs done)</a:t>
                      </a:r>
                    </a:p>
                  </a:txBody>
                  <a:tcPr>
                    <a:solidFill>
                      <a:srgbClr val="FFFFFF"/>
                    </a:solidFill>
                  </a:tcPr>
                </a:tc>
                <a:tc>
                  <a:txBody>
                    <a:bodyPr/>
                    <a:lstStyle/>
                    <a:p>
                      <a:r>
                        <a:rPr sz="1100" b="0">
                          <a:solidFill>
                            <a:srgbClr val="555555"/>
                          </a:solidFill>
                        </a:rPr>
                        <a:t>69 of 96; 4,479 of 431,730 values corrected</a:t>
                      </a:r>
                    </a:p>
                  </a:txBody>
                  <a:tcPr>
                    <a:solidFill>
                      <a:srgbClr val="FFFFFF"/>
                    </a:solidFill>
                  </a:tcPr>
                </a:tc>
                <a:tc>
                  <a:txBody>
                    <a:bodyPr/>
                    <a:lstStyle/>
                    <a:p>
                      <a:r>
                        <a:rPr sz="1100" b="0">
                          <a:solidFill>
                            <a:srgbClr val="555555"/>
                          </a:solidFill>
                        </a:rPr>
                        <a:t>bench/results/exact-sensitivity-60455ce.csv</a:t>
                      </a:r>
                    </a:p>
                  </a:txBody>
                  <a:tcPr>
                    <a:solidFill>
                      <a:srgbClr val="FFFFFF"/>
                    </a:solidFill>
                  </a:tcPr>
                </a:tc>
                <a:tc>
                  <a:txBody>
                    <a:bodyPr/>
                    <a:lstStyle/>
                    <a:p>
                      <a:r>
                        <a:rPr sz="1100" b="0">
                          <a:solidFill>
                            <a:srgbClr val="555555"/>
                          </a:solidFill>
                        </a:rPr>
                        <a:t>60455ce</a:t>
                      </a:r>
                    </a:p>
                  </a:txBody>
                  <a:tcPr>
                    <a:solidFill>
                      <a:srgbClr val="FFFFFF"/>
                    </a:solidFill>
                  </a:tcPr>
                </a:tc>
              </a:tr>
              <a:tr h="320040">
                <a:tc>
                  <a:txBody>
                    <a:bodyPr/>
                    <a:lstStyle/>
                    <a:p>
                      <a:r>
                        <a:rPr sz="1100" b="0">
                          <a:solidFill>
                            <a:srgbClr val="555555"/>
                          </a:solidFill>
                        </a:rPr>
                        <a:t>Stress set of badly scaled and adversarial LPs: correct / wrong / declined</a:t>
                      </a:r>
                    </a:p>
                  </a:txBody>
                  <a:tcPr>
                    <a:solidFill>
                      <a:srgbClr val="F2F4F7"/>
                    </a:solidFill>
                  </a:tcPr>
                </a:tc>
                <a:tc>
                  <a:txBody>
                    <a:bodyPr/>
                    <a:lstStyle/>
                    <a:p>
                      <a:r>
                        <a:rPr sz="1100" b="0">
                          <a:solidFill>
                            <a:srgbClr val="555555"/>
                          </a:solidFill>
                        </a:rPr>
                        <a:t>111 / 0 / 15 of 126</a:t>
                      </a:r>
                    </a:p>
                  </a:txBody>
                  <a:tcPr>
                    <a:solidFill>
                      <a:srgbClr val="F2F4F7"/>
                    </a:solidFill>
                  </a:tcPr>
                </a:tc>
                <a:tc>
                  <a:txBody>
                    <a:bodyPr/>
                    <a:lstStyle/>
                    <a:p>
                      <a:r>
                        <a:rPr sz="1100" b="0">
                          <a:solidFill>
                            <a:srgbClr val="555555"/>
                          </a:solidFill>
                        </a:rPr>
                        <a:t>bench/results/stress-d32b3847.csv</a:t>
                      </a:r>
                    </a:p>
                  </a:txBody>
                  <a:tcPr>
                    <a:solidFill>
                      <a:srgbClr val="F2F4F7"/>
                    </a:solidFill>
                  </a:tcPr>
                </a:tc>
                <a:tc>
                  <a:txBody>
                    <a:bodyPr/>
                    <a:lstStyle/>
                    <a:p>
                      <a:r>
                        <a:rPr sz="1100" b="0">
                          <a:solidFill>
                            <a:srgbClr val="555555"/>
                          </a:solidFill>
                        </a:rPr>
                        <a:t>d32b3847</a:t>
                      </a:r>
                    </a:p>
                  </a:txBody>
                  <a:tcPr>
                    <a:solidFill>
                      <a:srgbClr val="F2F4F7"/>
                    </a:solidFill>
                  </a:tcPr>
                </a:tc>
              </a:tr>
              <a:tr h="320040">
                <a:tc>
                  <a:txBody>
                    <a:bodyPr/>
                    <a:lstStyle/>
                    <a:p>
                      <a:r>
                        <a:rPr sz="1100" b="0">
                          <a:solidFill>
                            <a:srgbClr val="555555"/>
                          </a:solidFill>
                        </a:rPr>
                        <a:t>HiGHS 1.15.1 on its defaults, same set: correct / wrong / failed</a:t>
                      </a:r>
                    </a:p>
                  </a:txBody>
                  <a:tcPr>
                    <a:solidFill>
                      <a:srgbClr val="FFFFFF"/>
                    </a:solidFill>
                  </a:tcPr>
                </a:tc>
                <a:tc>
                  <a:txBody>
                    <a:bodyPr/>
                    <a:lstStyle/>
                    <a:p>
                      <a:r>
                        <a:rPr sz="1100" b="0">
                          <a:solidFill>
                            <a:srgbClr val="555555"/>
                          </a:solidFill>
                        </a:rPr>
                        <a:t>29 / 90 / 7 of 126</a:t>
                      </a:r>
                    </a:p>
                  </a:txBody>
                  <a:tcPr>
                    <a:solidFill>
                      <a:srgbClr val="FFFFFF"/>
                    </a:solidFill>
                  </a:tcPr>
                </a:tc>
                <a:tc>
                  <a:txBody>
                    <a:bodyPr/>
                    <a:lstStyle/>
                    <a:p>
                      <a:r>
                        <a:rPr sz="1100" b="0">
                          <a:solidFill>
                            <a:srgbClr val="555555"/>
                          </a:solidFill>
                        </a:rPr>
                        <a:t>bench/results/stress-d32b3847.csv</a:t>
                      </a:r>
                    </a:p>
                  </a:txBody>
                  <a:tcPr>
                    <a:solidFill>
                      <a:srgbClr val="FFFFFF"/>
                    </a:solidFill>
                  </a:tcPr>
                </a:tc>
                <a:tc>
                  <a:txBody>
                    <a:bodyPr/>
                    <a:lstStyle/>
                    <a:p>
                      <a:r>
                        <a:rPr sz="1100" b="0">
                          <a:solidFill>
                            <a:srgbClr val="555555"/>
                          </a:solidFill>
                        </a:rPr>
                        <a:t>d32b3847</a:t>
                      </a:r>
                    </a:p>
                  </a:txBody>
                  <a:tcPr>
                    <a:solidFill>
                      <a:srgbClr val="FFFFFF"/>
                    </a:solidFill>
                  </a:tcPr>
                </a:tc>
              </a:tr>
            </a:tbl>
          </a:graphicData>
        </a:graphic>
      </p:graphicFrame>
      <p:sp>
        <p:nvSpPr>
          <p:cNvPr id="7" name="TextBox 6"/>
          <p:cNvSpPr txBox="1"/>
          <p:nvPr/>
        </p:nvSpPr>
        <p:spPr>
          <a:xfrm>
            <a:off x="457200" y="5120640"/>
            <a:ext cx="11277295" cy="1097280"/>
          </a:xfrm>
          <a:prstGeom prst="rect">
            <a:avLst/>
          </a:prstGeom>
          <a:noFill/>
        </p:spPr>
        <p:txBody>
          <a:bodyPr wrap="square">
            <a:spAutoFit/>
          </a:bodyPr>
          <a:lstStyle/>
          <a:p>
            <a:pPr>
              <a:spcAft>
                <a:spcPts val="585"/>
              </a:spcAft>
            </a:pPr>
            <a:r>
              <a:rPr sz="1300" b="0">
                <a:solidFill>
                  <a:srgbClr val="555555"/>
                </a:solidFill>
              </a:rPr>
              <a:t>tools/verify_solution.py reads the model file and the written .sol file with its own parsers and never links the C++. A verdict of infeasible or unbounded arrives with a certificate it checks the same way; a MILP's proof is a VIPR certificate checked in exact arithmetic (tools/verify_certificate.py).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914400"/>
          </a:xfrm>
          <a:prstGeom prst="rect">
            <a:avLst/>
          </a:prstGeom>
          <a:noFill/>
        </p:spPr>
        <p:txBody>
          <a:bodyPr wrap="square">
            <a:spAutoFit/>
          </a:bodyPr>
          <a:lstStyle/>
          <a:p>
            <a:pPr>
              <a:spcAft>
                <a:spcPts val="1080"/>
              </a:spcAft>
            </a:pPr>
            <a:r>
              <a:rPr sz="2400" b="1">
                <a:solidFill>
                  <a:srgbClr val="FFFFFF"/>
                </a:solidFill>
              </a:rPr>
              <a:t>Head-to-head on LP: HiGHS, SCIP, CBC/Clp and GLPK, same machine, one thread</a:t>
            </a:r>
          </a:p>
        </p:txBody>
      </p:sp>
      <p:sp>
        <p:nvSpPr>
          <p:cNvPr id="4" name="Rectangle 3"/>
          <p:cNvSpPr/>
          <p:nvPr/>
        </p:nvSpPr>
        <p:spPr>
          <a:xfrm>
            <a:off x="0" y="6446520"/>
            <a:ext cx="12191695" cy="4114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11277295" cy="365760"/>
          </a:xfrm>
          <a:prstGeom prst="rect">
            <a:avLst/>
          </a:prstGeom>
          <a:noFill/>
        </p:spPr>
        <p:txBody>
          <a:bodyPr wrap="square">
            <a:spAutoFit/>
          </a:bodyPr>
          <a:lstStyle/>
          <a:p>
            <a:pPr>
              <a:spcAft>
                <a:spcPts val="450"/>
              </a:spcAft>
            </a:pPr>
            <a:r>
              <a:rPr sz="1000" b="0">
                <a:solidFill>
                  <a:srgbClr val="555555"/>
                </a:solidFill>
              </a:rPr>
              <a:t>Source: bench/results/head-to-head-netlib-5e490ef.csv (5e490ef); bench/results/head-to-head-kennington-1860864.csv (1860864); method in docs/BENCHMARKS.md section 4a</a:t>
            </a:r>
          </a:p>
        </p:txBody>
      </p:sp>
      <p:sp>
        <p:nvSpPr>
          <p:cNvPr id="6" name="TextBox 5"/>
          <p:cNvSpPr txBox="1"/>
          <p:nvPr/>
        </p:nvSpPr>
        <p:spPr>
          <a:xfrm>
            <a:off x="457200" y="1188720"/>
            <a:ext cx="5486400" cy="457200"/>
          </a:xfrm>
          <a:prstGeom prst="rect">
            <a:avLst/>
          </a:prstGeom>
          <a:noFill/>
        </p:spPr>
        <p:txBody>
          <a:bodyPr wrap="square">
            <a:spAutoFit/>
          </a:bodyPr>
          <a:lstStyle/>
          <a:p>
            <a:pPr>
              <a:spcAft>
                <a:spcPts val="630"/>
              </a:spcAft>
            </a:pPr>
            <a:r>
              <a:rPr sz="1400" b="1">
                <a:solidFill>
                  <a:srgbClr val="142B4F"/>
                </a:solidFill>
              </a:rPr>
              <a:t>Netlib LP, 92 instances, 120 s limit: shifted geometric mean time, shift 10 s</a:t>
            </a:r>
          </a:p>
        </p:txBody>
      </p:sp>
      <p:sp>
        <p:nvSpPr>
          <p:cNvPr id="7" name="TextBox 6"/>
          <p:cNvSpPr txBox="1"/>
          <p:nvPr/>
        </p:nvSpPr>
        <p:spPr>
          <a:xfrm>
            <a:off x="457200" y="1737360"/>
            <a:ext cx="1463040" cy="438912"/>
          </a:xfrm>
          <a:prstGeom prst="rect">
            <a:avLst/>
          </a:prstGeom>
          <a:noFill/>
        </p:spPr>
        <p:txBody>
          <a:bodyPr wrap="square">
            <a:spAutoFit/>
          </a:bodyPr>
          <a:lstStyle/>
          <a:p>
            <a:pPr>
              <a:spcAft>
                <a:spcPts val="540"/>
              </a:spcAft>
            </a:pPr>
            <a:r>
              <a:rPr sz="1200" b="0">
                <a:solidFill>
                  <a:srgbClr val="555555"/>
                </a:solidFill>
              </a:rPr>
              <a:t>SANKHYA</a:t>
            </a:r>
          </a:p>
        </p:txBody>
      </p:sp>
      <p:sp>
        <p:nvSpPr>
          <p:cNvPr id="8" name="Rectangle 7"/>
          <p:cNvSpPr/>
          <p:nvPr/>
        </p:nvSpPr>
        <p:spPr>
          <a:xfrm>
            <a:off x="2011680" y="1825142"/>
            <a:ext cx="1086482" cy="263347"/>
          </a:xfrm>
          <a:prstGeom prst="rect">
            <a:avLst/>
          </a:prstGeom>
          <a:solidFill>
            <a:srgbClr val="D96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89602" y="1737360"/>
            <a:ext cx="1371600" cy="438912"/>
          </a:xfrm>
          <a:prstGeom prst="rect">
            <a:avLst/>
          </a:prstGeom>
          <a:noFill/>
        </p:spPr>
        <p:txBody>
          <a:bodyPr wrap="square">
            <a:spAutoFit/>
          </a:bodyPr>
          <a:lstStyle/>
          <a:p>
            <a:pPr>
              <a:spcAft>
                <a:spcPts val="540"/>
              </a:spcAft>
            </a:pPr>
            <a:r>
              <a:rPr sz="1200" b="0">
                <a:solidFill>
                  <a:srgbClr val="555555"/>
                </a:solidFill>
              </a:rPr>
              <a:t>0.575 s</a:t>
            </a:r>
          </a:p>
        </p:txBody>
      </p:sp>
      <p:sp>
        <p:nvSpPr>
          <p:cNvPr id="10" name="TextBox 9"/>
          <p:cNvSpPr txBox="1"/>
          <p:nvPr/>
        </p:nvSpPr>
        <p:spPr>
          <a:xfrm>
            <a:off x="457200" y="2176272"/>
            <a:ext cx="1463040" cy="438912"/>
          </a:xfrm>
          <a:prstGeom prst="rect">
            <a:avLst/>
          </a:prstGeom>
          <a:noFill/>
        </p:spPr>
        <p:txBody>
          <a:bodyPr wrap="square">
            <a:spAutoFit/>
          </a:bodyPr>
          <a:lstStyle/>
          <a:p>
            <a:pPr>
              <a:spcAft>
                <a:spcPts val="540"/>
              </a:spcAft>
            </a:pPr>
            <a:r>
              <a:rPr sz="1200" b="0">
                <a:solidFill>
                  <a:srgbClr val="555555"/>
                </a:solidFill>
              </a:rPr>
              <a:t>HiGHS</a:t>
            </a:r>
          </a:p>
        </p:txBody>
      </p:sp>
      <p:sp>
        <p:nvSpPr>
          <p:cNvPr id="11" name="Rectangle 10"/>
          <p:cNvSpPr/>
          <p:nvPr/>
        </p:nvSpPr>
        <p:spPr>
          <a:xfrm>
            <a:off x="2011680" y="2264054"/>
            <a:ext cx="307994" cy="263347"/>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11114" y="2176272"/>
            <a:ext cx="1371600" cy="438912"/>
          </a:xfrm>
          <a:prstGeom prst="rect">
            <a:avLst/>
          </a:prstGeom>
          <a:noFill/>
        </p:spPr>
        <p:txBody>
          <a:bodyPr wrap="square">
            <a:spAutoFit/>
          </a:bodyPr>
          <a:lstStyle/>
          <a:p>
            <a:pPr>
              <a:spcAft>
                <a:spcPts val="540"/>
              </a:spcAft>
            </a:pPr>
            <a:r>
              <a:rPr sz="1200" b="0">
                <a:solidFill>
                  <a:srgbClr val="555555"/>
                </a:solidFill>
              </a:rPr>
              <a:t>0.163 s</a:t>
            </a:r>
          </a:p>
        </p:txBody>
      </p:sp>
      <p:sp>
        <p:nvSpPr>
          <p:cNvPr id="13" name="TextBox 12"/>
          <p:cNvSpPr txBox="1"/>
          <p:nvPr/>
        </p:nvSpPr>
        <p:spPr>
          <a:xfrm>
            <a:off x="457200" y="2615184"/>
            <a:ext cx="1463040" cy="438912"/>
          </a:xfrm>
          <a:prstGeom prst="rect">
            <a:avLst/>
          </a:prstGeom>
          <a:noFill/>
        </p:spPr>
        <p:txBody>
          <a:bodyPr wrap="square">
            <a:spAutoFit/>
          </a:bodyPr>
          <a:lstStyle/>
          <a:p>
            <a:pPr>
              <a:spcAft>
                <a:spcPts val="540"/>
              </a:spcAft>
            </a:pPr>
            <a:r>
              <a:rPr sz="1200" b="0">
                <a:solidFill>
                  <a:srgbClr val="555555"/>
                </a:solidFill>
              </a:rPr>
              <a:t>SCIP</a:t>
            </a:r>
          </a:p>
        </p:txBody>
      </p:sp>
      <p:sp>
        <p:nvSpPr>
          <p:cNvPr id="14" name="Rectangle 13"/>
          <p:cNvSpPr/>
          <p:nvPr/>
        </p:nvSpPr>
        <p:spPr>
          <a:xfrm>
            <a:off x="2011680" y="2702966"/>
            <a:ext cx="752034" cy="263347"/>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55154" y="2615184"/>
            <a:ext cx="1371600" cy="438912"/>
          </a:xfrm>
          <a:prstGeom prst="rect">
            <a:avLst/>
          </a:prstGeom>
          <a:noFill/>
        </p:spPr>
        <p:txBody>
          <a:bodyPr wrap="square">
            <a:spAutoFit/>
          </a:bodyPr>
          <a:lstStyle/>
          <a:p>
            <a:pPr>
              <a:spcAft>
                <a:spcPts val="540"/>
              </a:spcAft>
            </a:pPr>
            <a:r>
              <a:rPr sz="1200" b="0">
                <a:solidFill>
                  <a:srgbClr val="555555"/>
                </a:solidFill>
              </a:rPr>
              <a:t>0.398 s</a:t>
            </a:r>
          </a:p>
        </p:txBody>
      </p:sp>
      <p:sp>
        <p:nvSpPr>
          <p:cNvPr id="16" name="TextBox 15"/>
          <p:cNvSpPr txBox="1"/>
          <p:nvPr/>
        </p:nvSpPr>
        <p:spPr>
          <a:xfrm>
            <a:off x="457200" y="3054096"/>
            <a:ext cx="1463040" cy="438912"/>
          </a:xfrm>
          <a:prstGeom prst="rect">
            <a:avLst/>
          </a:prstGeom>
          <a:noFill/>
        </p:spPr>
        <p:txBody>
          <a:bodyPr wrap="square">
            <a:spAutoFit/>
          </a:bodyPr>
          <a:lstStyle/>
          <a:p>
            <a:pPr>
              <a:spcAft>
                <a:spcPts val="540"/>
              </a:spcAft>
            </a:pPr>
            <a:r>
              <a:rPr sz="1200" b="0">
                <a:solidFill>
                  <a:srgbClr val="555555"/>
                </a:solidFill>
              </a:rPr>
              <a:t>CBC/Clp</a:t>
            </a:r>
          </a:p>
        </p:txBody>
      </p:sp>
      <p:sp>
        <p:nvSpPr>
          <p:cNvPr id="17" name="Rectangle 16"/>
          <p:cNvSpPr/>
          <p:nvPr/>
        </p:nvSpPr>
        <p:spPr>
          <a:xfrm>
            <a:off x="2011680" y="3141878"/>
            <a:ext cx="2560320" cy="263347"/>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3440" y="3054096"/>
            <a:ext cx="1371600" cy="438912"/>
          </a:xfrm>
          <a:prstGeom prst="rect">
            <a:avLst/>
          </a:prstGeom>
          <a:noFill/>
        </p:spPr>
        <p:txBody>
          <a:bodyPr wrap="square">
            <a:spAutoFit/>
          </a:bodyPr>
          <a:lstStyle/>
          <a:p>
            <a:pPr>
              <a:spcAft>
                <a:spcPts val="540"/>
              </a:spcAft>
            </a:pPr>
            <a:r>
              <a:rPr sz="1200" b="0">
                <a:solidFill>
                  <a:srgbClr val="555555"/>
                </a:solidFill>
              </a:rPr>
              <a:t>1.355 s</a:t>
            </a:r>
          </a:p>
        </p:txBody>
      </p:sp>
      <p:sp>
        <p:nvSpPr>
          <p:cNvPr id="19" name="TextBox 18"/>
          <p:cNvSpPr txBox="1"/>
          <p:nvPr/>
        </p:nvSpPr>
        <p:spPr>
          <a:xfrm>
            <a:off x="457200" y="3493008"/>
            <a:ext cx="1463040" cy="438912"/>
          </a:xfrm>
          <a:prstGeom prst="rect">
            <a:avLst/>
          </a:prstGeom>
          <a:noFill/>
        </p:spPr>
        <p:txBody>
          <a:bodyPr wrap="square">
            <a:spAutoFit/>
          </a:bodyPr>
          <a:lstStyle/>
          <a:p>
            <a:pPr>
              <a:spcAft>
                <a:spcPts val="540"/>
              </a:spcAft>
            </a:pPr>
            <a:r>
              <a:rPr sz="1200" b="0">
                <a:solidFill>
                  <a:srgbClr val="555555"/>
                </a:solidFill>
              </a:rPr>
              <a:t>GLPK</a:t>
            </a:r>
          </a:p>
        </p:txBody>
      </p:sp>
      <p:sp>
        <p:nvSpPr>
          <p:cNvPr id="20" name="Rectangle 19"/>
          <p:cNvSpPr/>
          <p:nvPr/>
        </p:nvSpPr>
        <p:spPr>
          <a:xfrm>
            <a:off x="2011680" y="3580790"/>
            <a:ext cx="918314" cy="263347"/>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21434" y="3493008"/>
            <a:ext cx="1371600" cy="438912"/>
          </a:xfrm>
          <a:prstGeom prst="rect">
            <a:avLst/>
          </a:prstGeom>
          <a:noFill/>
        </p:spPr>
        <p:txBody>
          <a:bodyPr wrap="square">
            <a:spAutoFit/>
          </a:bodyPr>
          <a:lstStyle/>
          <a:p>
            <a:pPr>
              <a:spcAft>
                <a:spcPts val="540"/>
              </a:spcAft>
            </a:pPr>
            <a:r>
              <a:rPr sz="1200" b="0">
                <a:solidFill>
                  <a:srgbClr val="555555"/>
                </a:solidFill>
              </a:rPr>
              <a:t>0.486 s</a:t>
            </a:r>
          </a:p>
        </p:txBody>
      </p:sp>
      <p:sp>
        <p:nvSpPr>
          <p:cNvPr id="22" name="TextBox 21"/>
          <p:cNvSpPr txBox="1"/>
          <p:nvPr/>
        </p:nvSpPr>
        <p:spPr>
          <a:xfrm>
            <a:off x="6309360" y="1188720"/>
            <a:ext cx="5486400" cy="457200"/>
          </a:xfrm>
          <a:prstGeom prst="rect">
            <a:avLst/>
          </a:prstGeom>
          <a:noFill/>
        </p:spPr>
        <p:txBody>
          <a:bodyPr wrap="square">
            <a:spAutoFit/>
          </a:bodyPr>
          <a:lstStyle/>
          <a:p>
            <a:pPr>
              <a:spcAft>
                <a:spcPts val="630"/>
              </a:spcAft>
            </a:pPr>
            <a:r>
              <a:rPr sz="1400" b="1">
                <a:solidFill>
                  <a:srgbClr val="142B4F"/>
                </a:solidFill>
              </a:rPr>
              <a:t>Kennington LP, 16 instances, 120 s limit</a:t>
            </a:r>
          </a:p>
        </p:txBody>
      </p:sp>
      <p:sp>
        <p:nvSpPr>
          <p:cNvPr id="23" name="TextBox 22"/>
          <p:cNvSpPr txBox="1"/>
          <p:nvPr/>
        </p:nvSpPr>
        <p:spPr>
          <a:xfrm>
            <a:off x="6309360" y="1737360"/>
            <a:ext cx="1463040" cy="438912"/>
          </a:xfrm>
          <a:prstGeom prst="rect">
            <a:avLst/>
          </a:prstGeom>
          <a:noFill/>
        </p:spPr>
        <p:txBody>
          <a:bodyPr wrap="square">
            <a:spAutoFit/>
          </a:bodyPr>
          <a:lstStyle/>
          <a:p>
            <a:pPr>
              <a:spcAft>
                <a:spcPts val="540"/>
              </a:spcAft>
            </a:pPr>
            <a:r>
              <a:rPr sz="1200" b="0">
                <a:solidFill>
                  <a:srgbClr val="555555"/>
                </a:solidFill>
              </a:rPr>
              <a:t>SANKHYA</a:t>
            </a:r>
          </a:p>
        </p:txBody>
      </p:sp>
      <p:sp>
        <p:nvSpPr>
          <p:cNvPr id="24" name="Rectangle 23"/>
          <p:cNvSpPr/>
          <p:nvPr/>
        </p:nvSpPr>
        <p:spPr>
          <a:xfrm>
            <a:off x="7863840" y="1825142"/>
            <a:ext cx="2215232" cy="263347"/>
          </a:xfrm>
          <a:prstGeom prst="rect">
            <a:avLst/>
          </a:prstGeom>
          <a:solidFill>
            <a:srgbClr val="D96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70512" y="1737360"/>
            <a:ext cx="1371600" cy="438912"/>
          </a:xfrm>
          <a:prstGeom prst="rect">
            <a:avLst/>
          </a:prstGeom>
          <a:noFill/>
        </p:spPr>
        <p:txBody>
          <a:bodyPr wrap="square">
            <a:spAutoFit/>
          </a:bodyPr>
          <a:lstStyle/>
          <a:p>
            <a:pPr>
              <a:spcAft>
                <a:spcPts val="540"/>
              </a:spcAft>
            </a:pPr>
            <a:r>
              <a:rPr sz="1200" b="0">
                <a:solidFill>
                  <a:srgbClr val="555555"/>
                </a:solidFill>
              </a:rPr>
              <a:t>9.43 s</a:t>
            </a:r>
          </a:p>
        </p:txBody>
      </p:sp>
      <p:sp>
        <p:nvSpPr>
          <p:cNvPr id="26" name="TextBox 25"/>
          <p:cNvSpPr txBox="1"/>
          <p:nvPr/>
        </p:nvSpPr>
        <p:spPr>
          <a:xfrm>
            <a:off x="6309360" y="2176272"/>
            <a:ext cx="1463040" cy="438912"/>
          </a:xfrm>
          <a:prstGeom prst="rect">
            <a:avLst/>
          </a:prstGeom>
          <a:noFill/>
        </p:spPr>
        <p:txBody>
          <a:bodyPr wrap="square">
            <a:spAutoFit/>
          </a:bodyPr>
          <a:lstStyle/>
          <a:p>
            <a:pPr>
              <a:spcAft>
                <a:spcPts val="540"/>
              </a:spcAft>
            </a:pPr>
            <a:r>
              <a:rPr sz="1200" b="0">
                <a:solidFill>
                  <a:srgbClr val="555555"/>
                </a:solidFill>
              </a:rPr>
              <a:t>HiGHS</a:t>
            </a:r>
          </a:p>
        </p:txBody>
      </p:sp>
      <p:sp>
        <p:nvSpPr>
          <p:cNvPr id="27" name="Rectangle 26"/>
          <p:cNvSpPr/>
          <p:nvPr/>
        </p:nvSpPr>
        <p:spPr>
          <a:xfrm>
            <a:off x="7863840" y="2264054"/>
            <a:ext cx="435764" cy="263347"/>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91044" y="2176272"/>
            <a:ext cx="1371600" cy="438912"/>
          </a:xfrm>
          <a:prstGeom prst="rect">
            <a:avLst/>
          </a:prstGeom>
          <a:noFill/>
        </p:spPr>
        <p:txBody>
          <a:bodyPr wrap="square">
            <a:spAutoFit/>
          </a:bodyPr>
          <a:lstStyle/>
          <a:p>
            <a:pPr>
              <a:spcAft>
                <a:spcPts val="540"/>
              </a:spcAft>
            </a:pPr>
            <a:r>
              <a:rPr sz="1200" b="0">
                <a:solidFill>
                  <a:srgbClr val="555555"/>
                </a:solidFill>
              </a:rPr>
              <a:t>1.855 s</a:t>
            </a:r>
          </a:p>
        </p:txBody>
      </p:sp>
      <p:sp>
        <p:nvSpPr>
          <p:cNvPr id="29" name="TextBox 28"/>
          <p:cNvSpPr txBox="1"/>
          <p:nvPr/>
        </p:nvSpPr>
        <p:spPr>
          <a:xfrm>
            <a:off x="6309360" y="2615184"/>
            <a:ext cx="1463040" cy="438912"/>
          </a:xfrm>
          <a:prstGeom prst="rect">
            <a:avLst/>
          </a:prstGeom>
          <a:noFill/>
        </p:spPr>
        <p:txBody>
          <a:bodyPr wrap="square">
            <a:spAutoFit/>
          </a:bodyPr>
          <a:lstStyle/>
          <a:p>
            <a:pPr>
              <a:spcAft>
                <a:spcPts val="540"/>
              </a:spcAft>
            </a:pPr>
            <a:r>
              <a:rPr sz="1200" b="0">
                <a:solidFill>
                  <a:srgbClr val="555555"/>
                </a:solidFill>
              </a:rPr>
              <a:t>SCIP</a:t>
            </a:r>
          </a:p>
        </p:txBody>
      </p:sp>
      <p:sp>
        <p:nvSpPr>
          <p:cNvPr id="30" name="Rectangle 29"/>
          <p:cNvSpPr/>
          <p:nvPr/>
        </p:nvSpPr>
        <p:spPr>
          <a:xfrm>
            <a:off x="7863840" y="2702966"/>
            <a:ext cx="2560320" cy="263347"/>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515600" y="2615184"/>
            <a:ext cx="1371600" cy="438912"/>
          </a:xfrm>
          <a:prstGeom prst="rect">
            <a:avLst/>
          </a:prstGeom>
          <a:noFill/>
        </p:spPr>
        <p:txBody>
          <a:bodyPr wrap="square">
            <a:spAutoFit/>
          </a:bodyPr>
          <a:lstStyle/>
          <a:p>
            <a:pPr>
              <a:spcAft>
                <a:spcPts val="540"/>
              </a:spcAft>
            </a:pPr>
            <a:r>
              <a:rPr sz="1200" b="0">
                <a:solidFill>
                  <a:srgbClr val="555555"/>
                </a:solidFill>
              </a:rPr>
              <a:t>10.899 s</a:t>
            </a:r>
          </a:p>
        </p:txBody>
      </p:sp>
      <p:sp>
        <p:nvSpPr>
          <p:cNvPr id="32" name="TextBox 31"/>
          <p:cNvSpPr txBox="1"/>
          <p:nvPr/>
        </p:nvSpPr>
        <p:spPr>
          <a:xfrm>
            <a:off x="6309360" y="3054096"/>
            <a:ext cx="1463040" cy="438912"/>
          </a:xfrm>
          <a:prstGeom prst="rect">
            <a:avLst/>
          </a:prstGeom>
          <a:noFill/>
        </p:spPr>
        <p:txBody>
          <a:bodyPr wrap="square">
            <a:spAutoFit/>
          </a:bodyPr>
          <a:lstStyle/>
          <a:p>
            <a:pPr>
              <a:spcAft>
                <a:spcPts val="540"/>
              </a:spcAft>
            </a:pPr>
            <a:r>
              <a:rPr sz="1200" b="0">
                <a:solidFill>
                  <a:srgbClr val="555555"/>
                </a:solidFill>
              </a:rPr>
              <a:t>CBC/Clp</a:t>
            </a:r>
          </a:p>
        </p:txBody>
      </p:sp>
      <p:sp>
        <p:nvSpPr>
          <p:cNvPr id="33" name="Rectangle 32"/>
          <p:cNvSpPr/>
          <p:nvPr/>
        </p:nvSpPr>
        <p:spPr>
          <a:xfrm>
            <a:off x="7863840" y="3141878"/>
            <a:ext cx="186756" cy="263347"/>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42036" y="3054096"/>
            <a:ext cx="1371600" cy="438912"/>
          </a:xfrm>
          <a:prstGeom prst="rect">
            <a:avLst/>
          </a:prstGeom>
          <a:noFill/>
        </p:spPr>
        <p:txBody>
          <a:bodyPr wrap="square">
            <a:spAutoFit/>
          </a:bodyPr>
          <a:lstStyle/>
          <a:p>
            <a:pPr>
              <a:spcAft>
                <a:spcPts val="540"/>
              </a:spcAft>
            </a:pPr>
            <a:r>
              <a:rPr sz="1200" b="0">
                <a:solidFill>
                  <a:srgbClr val="555555"/>
                </a:solidFill>
              </a:rPr>
              <a:t>0.795 s</a:t>
            </a:r>
          </a:p>
        </p:txBody>
      </p:sp>
      <p:sp>
        <p:nvSpPr>
          <p:cNvPr id="35" name="TextBox 34"/>
          <p:cNvSpPr txBox="1"/>
          <p:nvPr/>
        </p:nvSpPr>
        <p:spPr>
          <a:xfrm>
            <a:off x="6309360" y="3493008"/>
            <a:ext cx="1463040" cy="438912"/>
          </a:xfrm>
          <a:prstGeom prst="rect">
            <a:avLst/>
          </a:prstGeom>
          <a:noFill/>
        </p:spPr>
        <p:txBody>
          <a:bodyPr wrap="square">
            <a:spAutoFit/>
          </a:bodyPr>
          <a:lstStyle/>
          <a:p>
            <a:pPr>
              <a:spcAft>
                <a:spcPts val="540"/>
              </a:spcAft>
            </a:pPr>
            <a:r>
              <a:rPr sz="1200" b="0">
                <a:solidFill>
                  <a:srgbClr val="555555"/>
                </a:solidFill>
              </a:rPr>
              <a:t>GLPK</a:t>
            </a:r>
          </a:p>
        </p:txBody>
      </p:sp>
      <p:sp>
        <p:nvSpPr>
          <p:cNvPr id="36" name="Rectangle 35"/>
          <p:cNvSpPr/>
          <p:nvPr/>
        </p:nvSpPr>
        <p:spPr>
          <a:xfrm>
            <a:off x="7863840" y="3580790"/>
            <a:ext cx="1725438" cy="263347"/>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80718" y="3493008"/>
            <a:ext cx="1371600" cy="438912"/>
          </a:xfrm>
          <a:prstGeom prst="rect">
            <a:avLst/>
          </a:prstGeom>
          <a:noFill/>
        </p:spPr>
        <p:txBody>
          <a:bodyPr wrap="square">
            <a:spAutoFit/>
          </a:bodyPr>
          <a:lstStyle/>
          <a:p>
            <a:pPr>
              <a:spcAft>
                <a:spcPts val="540"/>
              </a:spcAft>
            </a:pPr>
            <a:r>
              <a:rPr sz="1200" b="0">
                <a:solidFill>
                  <a:srgbClr val="555555"/>
                </a:solidFill>
              </a:rPr>
              <a:t>7.345 s</a:t>
            </a:r>
          </a:p>
        </p:txBody>
      </p:sp>
      <p:sp>
        <p:nvSpPr>
          <p:cNvPr id="38" name="TextBox 37"/>
          <p:cNvSpPr txBox="1"/>
          <p:nvPr/>
        </p:nvSpPr>
        <p:spPr>
          <a:xfrm>
            <a:off x="457200" y="4114800"/>
            <a:ext cx="11277295" cy="2194560"/>
          </a:xfrm>
          <a:prstGeom prst="rect">
            <a:avLst/>
          </a:prstGeom>
          <a:noFill/>
        </p:spPr>
        <p:txBody>
          <a:bodyPr wrap="square">
            <a:spAutoFit/>
          </a:bodyPr>
          <a:lstStyle/>
          <a:p>
            <a:pPr>
              <a:spcAft>
                <a:spcPts val="585"/>
              </a:spcAft>
            </a:pPr>
            <a:r>
              <a:rPr sz="1300" b="0">
                <a:solidFill>
                  <a:srgbClr val="555555"/>
                </a:solidFill>
              </a:rPr>
              <a:t>Against HiGHS instance by instance: Netlib faster on 3, tie on 72, slower on 17 of 92; Kennington faster on 3, tie on 2, slower on 11 of 16 (a tie is within 10%).</a:t>
            </a:r>
          </a:p>
          <a:p>
            <a:pPr>
              <a:spcAft>
                <a:spcPts val="585"/>
              </a:spcAft>
            </a:pPr>
            <a:r>
              <a:rPr sz="1300" b="0">
                <a:solidFill>
                  <a:srgbClr val="555555"/>
                </a:solidFill>
              </a:rPr>
              <a:t>The same verifier checks every rival's answer; on Netlib it rejected 5 rival answers. A run that is not optimal, at the published optimum and verified is charged the full time limit (Mittelmann's convention).</a:t>
            </a:r>
          </a:p>
          <a:p>
            <a:pPr>
              <a:spcAft>
                <a:spcPts val="585"/>
              </a:spcAft>
            </a:pPr>
            <a:r>
              <a:rPr sz="1300" b="0">
                <a:solidFill>
                  <a:srgbClr val="555555"/>
                </a:solidFill>
              </a:rPr>
              <a:t>SANKHYA is not the fastest LP solver here and this deck does not say it is: it is the one whose every answer, and every rival's, went through the same independent check.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914400"/>
          </a:xfrm>
          <a:prstGeom prst="rect">
            <a:avLst/>
          </a:prstGeom>
          <a:noFill/>
        </p:spPr>
        <p:txBody>
          <a:bodyPr wrap="square">
            <a:spAutoFit/>
          </a:bodyPr>
          <a:lstStyle/>
          <a:p>
            <a:pPr>
              <a:spcAft>
                <a:spcPts val="1080"/>
              </a:spcAft>
            </a:pPr>
            <a:r>
              <a:rPr sz="2400" b="1">
                <a:solidFill>
                  <a:srgbClr val="FFFFFF"/>
                </a:solidFill>
              </a:rPr>
              <a:t>Convex QP and MILP: where the checker changes the ranking</a:t>
            </a:r>
          </a:p>
        </p:txBody>
      </p:sp>
      <p:sp>
        <p:nvSpPr>
          <p:cNvPr id="4" name="Rectangle 3"/>
          <p:cNvSpPr/>
          <p:nvPr/>
        </p:nvSpPr>
        <p:spPr>
          <a:xfrm>
            <a:off x="0" y="6446520"/>
            <a:ext cx="12191695" cy="4114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11277295" cy="365760"/>
          </a:xfrm>
          <a:prstGeom prst="rect">
            <a:avLst/>
          </a:prstGeom>
          <a:noFill/>
        </p:spPr>
        <p:txBody>
          <a:bodyPr wrap="square">
            <a:spAutoFit/>
          </a:bodyPr>
          <a:lstStyle/>
          <a:p>
            <a:pPr>
              <a:spcAft>
                <a:spcPts val="450"/>
              </a:spcAft>
            </a:pPr>
            <a:r>
              <a:rPr sz="1000" b="0">
                <a:solidFill>
                  <a:srgbClr val="555555"/>
                </a:solidFill>
              </a:rPr>
              <a:t>Source: bench/results/head-to-head-maros-meszaros-1860864.csv (1860864); bench/results/maros-meszaros-9094e1c.csv (9094e1c); bench/results/miplib-ad57c03.csv (ad57c03)</a:t>
            </a:r>
          </a:p>
        </p:txBody>
      </p:sp>
      <p:sp>
        <p:nvSpPr>
          <p:cNvPr id="6" name="TextBox 5"/>
          <p:cNvSpPr txBox="1"/>
          <p:nvPr/>
        </p:nvSpPr>
        <p:spPr>
          <a:xfrm>
            <a:off x="457200" y="1188720"/>
            <a:ext cx="11277295" cy="457200"/>
          </a:xfrm>
          <a:prstGeom prst="rect">
            <a:avLst/>
          </a:prstGeom>
          <a:noFill/>
        </p:spPr>
        <p:txBody>
          <a:bodyPr wrap="square">
            <a:spAutoFit/>
          </a:bodyPr>
          <a:lstStyle/>
          <a:p>
            <a:pPr>
              <a:spcAft>
                <a:spcPts val="630"/>
              </a:spcAft>
            </a:pPr>
            <a:r>
              <a:rPr sz="1400" b="1">
                <a:solidFill>
                  <a:srgbClr val="142B4F"/>
                </a:solidFill>
              </a:rPr>
              <a:t>Maros-Meszaros convex QP, 138 instances, 60 s limit, head-to-head</a:t>
            </a:r>
          </a:p>
        </p:txBody>
      </p:sp>
      <p:graphicFrame>
        <p:nvGraphicFramePr>
          <p:cNvPr id="7" name="Table 6"/>
          <p:cNvGraphicFramePr>
            <a:graphicFrameLocks noGrp="1"/>
          </p:cNvGraphicFramePr>
          <p:nvPr/>
        </p:nvGraphicFramePr>
        <p:xfrm>
          <a:off x="457200" y="1645920"/>
          <a:ext cx="6858000" cy="1920240"/>
        </p:xfrm>
        <a:graphic>
          <a:graphicData uri="http://schemas.openxmlformats.org/drawingml/2006/table">
            <a:tbl>
              <a:tblPr firstRow="1" bandRow="1">
                <a:tableStyleId>{5C22544A-7EE6-4342-B048-85BDC9FD1C3A}</a:tableStyleId>
              </a:tblPr>
              <a:tblGrid>
                <a:gridCol w="1143000"/>
                <a:gridCol w="1143000"/>
                <a:gridCol w="1143000"/>
                <a:gridCol w="1143000"/>
                <a:gridCol w="1143000"/>
                <a:gridCol w="1143000"/>
              </a:tblGrid>
              <a:tr h="320040">
                <a:tc>
                  <a:txBody>
                    <a:bodyPr/>
                    <a:lstStyle/>
                    <a:p>
                      <a:r>
                        <a:rPr sz="1200" b="1">
                          <a:solidFill>
                            <a:srgbClr val="FFFFFF"/>
                          </a:solidFill>
                        </a:rPr>
                        <a:t>solver</a:t>
                      </a:r>
                    </a:p>
                  </a:txBody>
                  <a:tcPr>
                    <a:solidFill>
                      <a:srgbClr val="142B4F"/>
                    </a:solidFill>
                  </a:tcPr>
                </a:tc>
                <a:tc>
                  <a:txBody>
                    <a:bodyPr/>
                    <a:lstStyle/>
                    <a:p>
                      <a:r>
                        <a:rPr sz="1200" b="1">
                          <a:solidFill>
                            <a:srgbClr val="FFFFFF"/>
                          </a:solidFill>
                        </a:rPr>
                        <a:t>runs</a:t>
                      </a:r>
                    </a:p>
                  </a:txBody>
                  <a:tcPr>
                    <a:solidFill>
                      <a:srgbClr val="142B4F"/>
                    </a:solidFill>
                  </a:tcPr>
                </a:tc>
                <a:tc>
                  <a:txBody>
                    <a:bodyPr/>
                    <a:lstStyle/>
                    <a:p>
                      <a:r>
                        <a:rPr sz="1200" b="1">
                          <a:solidFill>
                            <a:srgbClr val="FFFFFF"/>
                          </a:solidFill>
                        </a:rPr>
                        <a:t>solved</a:t>
                      </a:r>
                    </a:p>
                  </a:txBody>
                  <a:tcPr>
                    <a:solidFill>
                      <a:srgbClr val="142B4F"/>
                    </a:solidFill>
                  </a:tcPr>
                </a:tc>
                <a:tc>
                  <a:txBody>
                    <a:bodyPr/>
                    <a:lstStyle/>
                    <a:p>
                      <a:r>
                        <a:rPr sz="1200" b="1">
                          <a:solidFill>
                            <a:srgbClr val="FFFFFF"/>
                          </a:solidFill>
                        </a:rPr>
                        <a:t>matched</a:t>
                      </a:r>
                    </a:p>
                  </a:txBody>
                  <a:tcPr>
                    <a:solidFill>
                      <a:srgbClr val="142B4F"/>
                    </a:solidFill>
                  </a:tcPr>
                </a:tc>
                <a:tc>
                  <a:txBody>
                    <a:bodyPr/>
                    <a:lstStyle/>
                    <a:p>
                      <a:r>
                        <a:rPr sz="1200" b="1">
                          <a:solidFill>
                            <a:srgbClr val="FFFFFF"/>
                          </a:solidFill>
                        </a:rPr>
                        <a:t>verified</a:t>
                      </a:r>
                    </a:p>
                  </a:txBody>
                  <a:tcPr>
                    <a:solidFill>
                      <a:srgbClr val="142B4F"/>
                    </a:solidFill>
                  </a:tcPr>
                </a:tc>
                <a:tc>
                  <a:txBody>
                    <a:bodyPr/>
                    <a:lstStyle/>
                    <a:p>
                      <a:r>
                        <a:rPr sz="1200" b="1">
                          <a:solidFill>
                            <a:srgbClr val="FFFFFF"/>
                          </a:solidFill>
                        </a:rPr>
                        <a:t>SGM time, shift 10 s</a:t>
                      </a:r>
                    </a:p>
                  </a:txBody>
                  <a:tcPr>
                    <a:solidFill>
                      <a:srgbClr val="142B4F"/>
                    </a:solidFill>
                  </a:tcPr>
                </a:tc>
              </a:tr>
              <a:tr h="320040">
                <a:tc>
                  <a:txBody>
                    <a:bodyPr/>
                    <a:lstStyle/>
                    <a:p>
                      <a:r>
                        <a:rPr sz="1200" b="0">
                          <a:solidFill>
                            <a:srgbClr val="555555"/>
                          </a:solidFill>
                        </a:rPr>
                        <a:t>SANKHYA</a:t>
                      </a:r>
                    </a:p>
                  </a:txBody>
                  <a:tcPr>
                    <a:solidFill>
                      <a:srgbClr val="FFFFFF"/>
                    </a:solidFill>
                  </a:tcPr>
                </a:tc>
                <a:tc>
                  <a:txBody>
                    <a:bodyPr/>
                    <a:lstStyle/>
                    <a:p>
                      <a:r>
                        <a:rPr sz="1200" b="0">
                          <a:solidFill>
                            <a:srgbClr val="555555"/>
                          </a:solidFill>
                        </a:rPr>
                        <a:t>138</a:t>
                      </a:r>
                    </a:p>
                  </a:txBody>
                  <a:tcPr>
                    <a:solidFill>
                      <a:srgbClr val="FFFFFF"/>
                    </a:solidFill>
                  </a:tcPr>
                </a:tc>
                <a:tc>
                  <a:txBody>
                    <a:bodyPr/>
                    <a:lstStyle/>
                    <a:p>
                      <a:r>
                        <a:rPr sz="1200" b="0">
                          <a:solidFill>
                            <a:srgbClr val="555555"/>
                          </a:solidFill>
                        </a:rPr>
                        <a:t>107</a:t>
                      </a:r>
                    </a:p>
                  </a:txBody>
                  <a:tcPr>
                    <a:solidFill>
                      <a:srgbClr val="FFFFFF"/>
                    </a:solidFill>
                  </a:tcPr>
                </a:tc>
                <a:tc>
                  <a:txBody>
                    <a:bodyPr/>
                    <a:lstStyle/>
                    <a:p>
                      <a:r>
                        <a:rPr sz="1200" b="0">
                          <a:solidFill>
                            <a:srgbClr val="555555"/>
                          </a:solidFill>
                        </a:rPr>
                        <a:t>106</a:t>
                      </a:r>
                    </a:p>
                  </a:txBody>
                  <a:tcPr>
                    <a:solidFill>
                      <a:srgbClr val="FFFFFF"/>
                    </a:solidFill>
                  </a:tcPr>
                </a:tc>
                <a:tc>
                  <a:txBody>
                    <a:bodyPr/>
                    <a:lstStyle/>
                    <a:p>
                      <a:r>
                        <a:rPr sz="1200" b="0">
                          <a:solidFill>
                            <a:srgbClr val="555555"/>
                          </a:solidFill>
                        </a:rPr>
                        <a:t>107</a:t>
                      </a:r>
                    </a:p>
                  </a:txBody>
                  <a:tcPr>
                    <a:solidFill>
                      <a:srgbClr val="FFFFFF"/>
                    </a:solidFill>
                  </a:tcPr>
                </a:tc>
                <a:tc>
                  <a:txBody>
                    <a:bodyPr/>
                    <a:lstStyle/>
                    <a:p>
                      <a:r>
                        <a:rPr sz="1200" b="0">
                          <a:solidFill>
                            <a:srgbClr val="555555"/>
                          </a:solidFill>
                        </a:rPr>
                        <a:t>6.437 s</a:t>
                      </a:r>
                    </a:p>
                  </a:txBody>
                  <a:tcPr>
                    <a:solidFill>
                      <a:srgbClr val="FFFFFF"/>
                    </a:solidFill>
                  </a:tcPr>
                </a:tc>
              </a:tr>
              <a:tr h="320040">
                <a:tc>
                  <a:txBody>
                    <a:bodyPr/>
                    <a:lstStyle/>
                    <a:p>
                      <a:r>
                        <a:rPr sz="1200" b="0">
                          <a:solidFill>
                            <a:srgbClr val="555555"/>
                          </a:solidFill>
                        </a:rPr>
                        <a:t>HiGHS</a:t>
                      </a:r>
                    </a:p>
                  </a:txBody>
                  <a:tcPr>
                    <a:solidFill>
                      <a:srgbClr val="F2F4F7"/>
                    </a:solidFill>
                  </a:tcPr>
                </a:tc>
                <a:tc>
                  <a:txBody>
                    <a:bodyPr/>
                    <a:lstStyle/>
                    <a:p>
                      <a:r>
                        <a:rPr sz="1200" b="0">
                          <a:solidFill>
                            <a:srgbClr val="555555"/>
                          </a:solidFill>
                        </a:rPr>
                        <a:t>138</a:t>
                      </a:r>
                    </a:p>
                  </a:txBody>
                  <a:tcPr>
                    <a:solidFill>
                      <a:srgbClr val="F2F4F7"/>
                    </a:solidFill>
                  </a:tcPr>
                </a:tc>
                <a:tc>
                  <a:txBody>
                    <a:bodyPr/>
                    <a:lstStyle/>
                    <a:p>
                      <a:r>
                        <a:rPr sz="1200" b="0">
                          <a:solidFill>
                            <a:srgbClr val="555555"/>
                          </a:solidFill>
                        </a:rPr>
                        <a:t>105</a:t>
                      </a:r>
                    </a:p>
                  </a:txBody>
                  <a:tcPr>
                    <a:solidFill>
                      <a:srgbClr val="F2F4F7"/>
                    </a:solidFill>
                  </a:tcPr>
                </a:tc>
                <a:tc>
                  <a:txBody>
                    <a:bodyPr/>
                    <a:lstStyle/>
                    <a:p>
                      <a:r>
                        <a:rPr sz="1200" b="0">
                          <a:solidFill>
                            <a:srgbClr val="555555"/>
                          </a:solidFill>
                        </a:rPr>
                        <a:t>99</a:t>
                      </a:r>
                    </a:p>
                  </a:txBody>
                  <a:tcPr>
                    <a:solidFill>
                      <a:srgbClr val="F2F4F7"/>
                    </a:solidFill>
                  </a:tcPr>
                </a:tc>
                <a:tc>
                  <a:txBody>
                    <a:bodyPr/>
                    <a:lstStyle/>
                    <a:p>
                      <a:r>
                        <a:rPr sz="1200" b="0">
                          <a:solidFill>
                            <a:srgbClr val="555555"/>
                          </a:solidFill>
                        </a:rPr>
                        <a:t>32</a:t>
                      </a:r>
                    </a:p>
                  </a:txBody>
                  <a:tcPr>
                    <a:solidFill>
                      <a:srgbClr val="F2F4F7"/>
                    </a:solidFill>
                  </a:tcPr>
                </a:tc>
                <a:tc>
                  <a:txBody>
                    <a:bodyPr/>
                    <a:lstStyle/>
                    <a:p>
                      <a:r>
                        <a:rPr sz="1200" b="0">
                          <a:solidFill>
                            <a:srgbClr val="555555"/>
                          </a:solidFill>
                        </a:rPr>
                        <a:t>35.781 s</a:t>
                      </a:r>
                    </a:p>
                  </a:txBody>
                  <a:tcPr>
                    <a:solidFill>
                      <a:srgbClr val="F2F4F7"/>
                    </a:solidFill>
                  </a:tcPr>
                </a:tc>
              </a:tr>
              <a:tr h="320040">
                <a:tc>
                  <a:txBody>
                    <a:bodyPr/>
                    <a:lstStyle/>
                    <a:p>
                      <a:r>
                        <a:rPr sz="1200" b="0">
                          <a:solidFill>
                            <a:srgbClr val="555555"/>
                          </a:solidFill>
                        </a:rPr>
                        <a:t>SCIP</a:t>
                      </a:r>
                    </a:p>
                  </a:txBody>
                  <a:tcPr>
                    <a:solidFill>
                      <a:srgbClr val="FFFFFF"/>
                    </a:solidFill>
                  </a:tcPr>
                </a:tc>
                <a:tc>
                  <a:txBody>
                    <a:bodyPr/>
                    <a:lstStyle/>
                    <a:p>
                      <a:r>
                        <a:rPr sz="1200" b="0">
                          <a:solidFill>
                            <a:srgbClr val="555555"/>
                          </a:solidFill>
                        </a:rPr>
                        <a:t>138</a:t>
                      </a:r>
                    </a:p>
                  </a:txBody>
                  <a:tcPr>
                    <a:solidFill>
                      <a:srgbClr val="FFFFFF"/>
                    </a:solidFill>
                  </a:tcPr>
                </a:tc>
                <a:tc>
                  <a:txBody>
                    <a:bodyPr/>
                    <a:lstStyle/>
                    <a:p>
                      <a:r>
                        <a:rPr sz="1200" b="0">
                          <a:solidFill>
                            <a:srgbClr val="555555"/>
                          </a:solidFill>
                        </a:rPr>
                        <a:t>78</a:t>
                      </a:r>
                    </a:p>
                  </a:txBody>
                  <a:tcPr>
                    <a:solidFill>
                      <a:srgbClr val="FFFFFF"/>
                    </a:solidFill>
                  </a:tcPr>
                </a:tc>
                <a:tc>
                  <a:txBody>
                    <a:bodyPr/>
                    <a:lstStyle/>
                    <a:p>
                      <a:r>
                        <a:rPr sz="1200" b="0">
                          <a:solidFill>
                            <a:srgbClr val="555555"/>
                          </a:solidFill>
                        </a:rPr>
                        <a:t>76</a:t>
                      </a:r>
                    </a:p>
                  </a:txBody>
                  <a:tcPr>
                    <a:solidFill>
                      <a:srgbClr val="FFFFFF"/>
                    </a:solidFill>
                  </a:tcPr>
                </a:tc>
                <a:tc>
                  <a:txBody>
                    <a:bodyPr/>
                    <a:lstStyle/>
                    <a:p>
                      <a:r>
                        <a:rPr sz="1200" b="0">
                          <a:solidFill>
                            <a:srgbClr val="555555"/>
                          </a:solidFill>
                        </a:rPr>
                        <a:t>53</a:t>
                      </a:r>
                    </a:p>
                  </a:txBody>
                  <a:tcPr>
                    <a:solidFill>
                      <a:srgbClr val="FFFFFF"/>
                    </a:solidFill>
                  </a:tcPr>
                </a:tc>
                <a:tc>
                  <a:txBody>
                    <a:bodyPr/>
                    <a:lstStyle/>
                    <a:p>
                      <a:r>
                        <a:rPr sz="1200" b="0">
                          <a:solidFill>
                            <a:srgbClr val="555555"/>
                          </a:solidFill>
                        </a:rPr>
                        <a:t>27.436 s</a:t>
                      </a:r>
                    </a:p>
                  </a:txBody>
                  <a:tcPr>
                    <a:solidFill>
                      <a:srgbClr val="FFFFFF"/>
                    </a:solidFill>
                  </a:tcPr>
                </a:tc>
              </a:tr>
              <a:tr h="320040">
                <a:tc>
                  <a:txBody>
                    <a:bodyPr/>
                    <a:lstStyle/>
                    <a:p>
                      <a:r>
                        <a:rPr sz="1200" b="0">
                          <a:solidFill>
                            <a:srgbClr val="555555"/>
                          </a:solidFill>
                        </a:rPr>
                        <a:t>CBC/Clp</a:t>
                      </a:r>
                    </a:p>
                  </a:txBody>
                  <a:tcPr>
                    <a:solidFill>
                      <a:srgbClr val="F2F4F7"/>
                    </a:solidFill>
                  </a:tcPr>
                </a:tc>
                <a:tc>
                  <a:txBody>
                    <a:bodyPr/>
                    <a:lstStyle/>
                    <a:p>
                      <a:r>
                        <a:rPr sz="1200" b="0">
                          <a:solidFill>
                            <a:srgbClr val="555555"/>
                          </a:solidFill>
                        </a:rPr>
                        <a:t>138</a:t>
                      </a:r>
                    </a:p>
                  </a:txBody>
                  <a:tcPr>
                    <a:solidFill>
                      <a:srgbClr val="F2F4F7"/>
                    </a:solidFill>
                  </a:tcPr>
                </a:tc>
                <a:tc>
                  <a:txBody>
                    <a:bodyPr/>
                    <a:lstStyle/>
                    <a:p>
                      <a:r>
                        <a:rPr sz="1200" b="0">
                          <a:solidFill>
                            <a:srgbClr val="555555"/>
                          </a:solidFill>
                        </a:rPr>
                        <a:t>127</a:t>
                      </a:r>
                    </a:p>
                  </a:txBody>
                  <a:tcPr>
                    <a:solidFill>
                      <a:srgbClr val="F2F4F7"/>
                    </a:solidFill>
                  </a:tcPr>
                </a:tc>
                <a:tc>
                  <a:txBody>
                    <a:bodyPr/>
                    <a:lstStyle/>
                    <a:p>
                      <a:r>
                        <a:rPr sz="1200" b="0">
                          <a:solidFill>
                            <a:srgbClr val="555555"/>
                          </a:solidFill>
                        </a:rPr>
                        <a:t>113</a:t>
                      </a:r>
                    </a:p>
                  </a:txBody>
                  <a:tcPr>
                    <a:solidFill>
                      <a:srgbClr val="F2F4F7"/>
                    </a:solidFill>
                  </a:tcPr>
                </a:tc>
                <a:tc>
                  <a:txBody>
                    <a:bodyPr/>
                    <a:lstStyle/>
                    <a:p>
                      <a:r>
                        <a:rPr sz="1200" b="0">
                          <a:solidFill>
                            <a:srgbClr val="555555"/>
                          </a:solidFill>
                        </a:rPr>
                        <a:t>62</a:t>
                      </a:r>
                    </a:p>
                  </a:txBody>
                  <a:tcPr>
                    <a:solidFill>
                      <a:srgbClr val="F2F4F7"/>
                    </a:solidFill>
                  </a:tcPr>
                </a:tc>
                <a:tc>
                  <a:txBody>
                    <a:bodyPr/>
                    <a:lstStyle/>
                    <a:p>
                      <a:r>
                        <a:rPr sz="1200" b="0">
                          <a:solidFill>
                            <a:srgbClr val="555555"/>
                          </a:solidFill>
                        </a:rPr>
                        <a:t>20.974 s</a:t>
                      </a:r>
                    </a:p>
                  </a:txBody>
                  <a:tcPr>
                    <a:solidFill>
                      <a:srgbClr val="F2F4F7"/>
                    </a:solidFill>
                  </a:tcPr>
                </a:tc>
              </a:tr>
              <a:tr h="320040">
                <a:tc>
                  <a:txBody>
                    <a:bodyPr/>
                    <a:lstStyle/>
                    <a:p>
                      <a:r>
                        <a:rPr sz="1200" b="0">
                          <a:solidFill>
                            <a:srgbClr val="555555"/>
                          </a:solidFill>
                        </a:rPr>
                        <a:t>GLPK</a:t>
                      </a:r>
                    </a:p>
                  </a:txBody>
                  <a:tcPr>
                    <a:solidFill>
                      <a:srgbClr val="FFFFFF"/>
                    </a:solidFill>
                  </a:tcPr>
                </a:tc>
                <a:tc>
                  <a:txBody>
                    <a:bodyPr/>
                    <a:lstStyle/>
                    <a:p>
                      <a:r>
                        <a:rPr sz="1200" b="0">
                          <a:solidFill>
                            <a:srgbClr val="555555"/>
                          </a:solidFill>
                        </a:rPr>
                        <a:t>138</a:t>
                      </a:r>
                    </a:p>
                  </a:txBody>
                  <a:tcPr>
                    <a:solidFill>
                      <a:srgbClr val="FFFFFF"/>
                    </a:solidFill>
                  </a:tcPr>
                </a:tc>
                <a:tc>
                  <a:txBody>
                    <a:bodyPr/>
                    <a:lstStyle/>
                    <a:p>
                      <a:r>
                        <a:rPr sz="1200" b="0">
                          <a:solidFill>
                            <a:srgbClr val="555555"/>
                          </a:solidFill>
                        </a:rPr>
                        <a:t>unsupported</a:t>
                      </a:r>
                    </a:p>
                  </a:txBody>
                  <a:tcPr>
                    <a:solidFill>
                      <a:srgbClr val="FFFFFF"/>
                    </a:solidFill>
                  </a:tcPr>
                </a:tc>
                <a:tc>
                  <a:txBody>
                    <a:bodyPr/>
                    <a:lstStyle/>
                    <a:p>
                      <a:r>
                        <a:rPr sz="1200" b="0">
                          <a:solidFill>
                            <a:srgbClr val="555555"/>
                          </a:solidFill>
                        </a:rPr>
                        <a:t>-</a:t>
                      </a:r>
                    </a:p>
                  </a:txBody>
                  <a:tcPr>
                    <a:solidFill>
                      <a:srgbClr val="FFFFFF"/>
                    </a:solidFill>
                  </a:tcPr>
                </a:tc>
                <a:tc>
                  <a:txBody>
                    <a:bodyPr/>
                    <a:lstStyle/>
                    <a:p>
                      <a:r>
                        <a:rPr sz="1200" b="0">
                          <a:solidFill>
                            <a:srgbClr val="555555"/>
                          </a:solidFill>
                        </a:rPr>
                        <a:t>-</a:t>
                      </a:r>
                    </a:p>
                  </a:txBody>
                  <a:tcPr>
                    <a:solidFill>
                      <a:srgbClr val="FFFFFF"/>
                    </a:solidFill>
                  </a:tcPr>
                </a:tc>
                <a:tc>
                  <a:txBody>
                    <a:bodyPr/>
                    <a:lstStyle/>
                    <a:p>
                      <a:r>
                        <a:rPr sz="1200" b="0">
                          <a:solidFill>
                            <a:srgbClr val="555555"/>
                          </a:solidFill>
                        </a:rPr>
                        <a:t>-</a:t>
                      </a:r>
                    </a:p>
                  </a:txBody>
                  <a:tcPr>
                    <a:solidFill>
                      <a:srgbClr val="FFFFFF"/>
                    </a:solidFill>
                  </a:tcPr>
                </a:tc>
              </a:tr>
            </a:tbl>
          </a:graphicData>
        </a:graphic>
      </p:graphicFrame>
      <p:sp>
        <p:nvSpPr>
          <p:cNvPr id="8" name="TextBox 7"/>
          <p:cNvSpPr txBox="1"/>
          <p:nvPr/>
        </p:nvSpPr>
        <p:spPr>
          <a:xfrm>
            <a:off x="7589520" y="1645920"/>
            <a:ext cx="4206240" cy="2743200"/>
          </a:xfrm>
          <a:prstGeom prst="rect">
            <a:avLst/>
          </a:prstGeom>
          <a:noFill/>
        </p:spPr>
        <p:txBody>
          <a:bodyPr wrap="square">
            <a:spAutoFit/>
          </a:bodyPr>
          <a:lstStyle/>
          <a:p>
            <a:pPr>
              <a:spcAft>
                <a:spcPts val="540"/>
              </a:spcAft>
            </a:pPr>
            <a:r>
              <a:rPr sz="1200" b="0">
                <a:solidFill>
                  <a:srgbClr val="555555"/>
                </a:solidFill>
              </a:rPr>
              <a:t>A rival's optimal status is not taken on trust either: the verifier rejected 163 rival QP answers in this run, and only verified runs count for time. Against HiGHS instance by instance: faster on 82, tie on 22, slower on 5 of 109.</a:t>
            </a:r>
          </a:p>
          <a:p>
            <a:pPr>
              <a:spcAft>
                <a:spcPts val="540"/>
              </a:spcAft>
            </a:pPr>
            <a:r>
              <a:rPr sz="1200" b="0">
                <a:solidFill>
                  <a:srgbClr val="555555"/>
                </a:solidFill>
              </a:rPr>
              <a:t>Alone, on the laptop: 106 of 138 at the published objective, 0 optimal answers rejected (bench/results/maros-meszaros-9094e1c.csv).</a:t>
            </a:r>
          </a:p>
        </p:txBody>
      </p:sp>
      <p:sp>
        <p:nvSpPr>
          <p:cNvPr id="9" name="TextBox 8"/>
          <p:cNvSpPr txBox="1"/>
          <p:nvPr/>
        </p:nvSpPr>
        <p:spPr>
          <a:xfrm>
            <a:off x="457200" y="4480560"/>
            <a:ext cx="3657600" cy="822960"/>
          </a:xfrm>
          <a:prstGeom prst="rect">
            <a:avLst/>
          </a:prstGeom>
          <a:noFill/>
        </p:spPr>
        <p:txBody>
          <a:bodyPr wrap="square">
            <a:spAutoFit/>
          </a:bodyPr>
          <a:lstStyle/>
          <a:p>
            <a:pPr>
              <a:spcAft>
                <a:spcPts val="1620"/>
              </a:spcAft>
            </a:pPr>
            <a:r>
              <a:rPr sz="3600" b="1">
                <a:solidFill>
                  <a:srgbClr val="D96C1F"/>
                </a:solidFill>
              </a:rPr>
              <a:t>14 of 30</a:t>
            </a:r>
          </a:p>
        </p:txBody>
      </p:sp>
      <p:sp>
        <p:nvSpPr>
          <p:cNvPr id="10" name="TextBox 9"/>
          <p:cNvSpPr txBox="1"/>
          <p:nvPr/>
        </p:nvSpPr>
        <p:spPr>
          <a:xfrm>
            <a:off x="457200" y="5257800"/>
            <a:ext cx="3657600" cy="1097280"/>
          </a:xfrm>
          <a:prstGeom prst="rect">
            <a:avLst/>
          </a:prstGeom>
          <a:noFill/>
        </p:spPr>
        <p:txBody>
          <a:bodyPr wrap="square">
            <a:spAutoFit/>
          </a:bodyPr>
          <a:lstStyle/>
          <a:p>
            <a:pPr>
              <a:spcAft>
                <a:spcPts val="540"/>
              </a:spcAft>
            </a:pPr>
            <a:r>
              <a:rPr sz="1200" b="0">
                <a:solidFill>
                  <a:srgbClr val="555555"/>
                </a:solidFill>
              </a:rPr>
              <a:t>MIPLIB 2017 easy set at the published optimum, 11 of 30 proved optimal inside the limit (bench/results/miplib-ad57c03.csv)</a:t>
            </a:r>
          </a:p>
        </p:txBody>
      </p:sp>
      <p:sp>
        <p:nvSpPr>
          <p:cNvPr id="11" name="TextBox 10"/>
          <p:cNvSpPr txBox="1"/>
          <p:nvPr/>
        </p:nvSpPr>
        <p:spPr>
          <a:xfrm>
            <a:off x="4389120" y="4480560"/>
            <a:ext cx="3657600" cy="822960"/>
          </a:xfrm>
          <a:prstGeom prst="rect">
            <a:avLst/>
          </a:prstGeom>
          <a:noFill/>
        </p:spPr>
        <p:txBody>
          <a:bodyPr wrap="square">
            <a:spAutoFit/>
          </a:bodyPr>
          <a:lstStyle/>
          <a:p>
            <a:pPr>
              <a:spcAft>
                <a:spcPts val="1620"/>
              </a:spcAft>
            </a:pPr>
            <a:r>
              <a:rPr sz="3600" b="1">
                <a:solidFill>
                  <a:srgbClr val="D96C1F"/>
                </a:solidFill>
              </a:rPr>
              <a:t>64 of 70</a:t>
            </a:r>
          </a:p>
        </p:txBody>
      </p:sp>
      <p:sp>
        <p:nvSpPr>
          <p:cNvPr id="12" name="TextBox 11"/>
          <p:cNvSpPr txBox="1"/>
          <p:nvPr/>
        </p:nvSpPr>
        <p:spPr>
          <a:xfrm>
            <a:off x="4389120" y="5257800"/>
            <a:ext cx="3657600" cy="1097280"/>
          </a:xfrm>
          <a:prstGeom prst="rect">
            <a:avLst/>
          </a:prstGeom>
          <a:noFill/>
        </p:spPr>
        <p:txBody>
          <a:bodyPr wrap="square">
            <a:spAutoFit/>
          </a:bodyPr>
          <a:lstStyle/>
          <a:p>
            <a:pPr>
              <a:spcAft>
                <a:spcPts val="540"/>
              </a:spcAft>
            </a:pPr>
            <a:r>
              <a:rPr sz="1200" b="0">
                <a:solidFill>
                  <a:srgbClr val="555555"/>
                </a:solidFill>
              </a:rPr>
              <a:t>Hock-Schittkowski NLP at the published objective, 70 accepted by the checker (bench/results/nlp-hs-ad57c03.csv)</a:t>
            </a:r>
          </a:p>
        </p:txBody>
      </p:sp>
      <p:sp>
        <p:nvSpPr>
          <p:cNvPr id="13" name="TextBox 12"/>
          <p:cNvSpPr txBox="1"/>
          <p:nvPr/>
        </p:nvSpPr>
        <p:spPr>
          <a:xfrm>
            <a:off x="8321040" y="4480560"/>
            <a:ext cx="3657600" cy="822960"/>
          </a:xfrm>
          <a:prstGeom prst="rect">
            <a:avLst/>
          </a:prstGeom>
          <a:noFill/>
        </p:spPr>
        <p:txBody>
          <a:bodyPr wrap="square">
            <a:spAutoFit/>
          </a:bodyPr>
          <a:lstStyle/>
          <a:p>
            <a:pPr>
              <a:spcAft>
                <a:spcPts val="1620"/>
              </a:spcAft>
            </a:pPr>
            <a:r>
              <a:rPr sz="3600" b="1">
                <a:solidFill>
                  <a:srgbClr val="D96C1F"/>
                </a:solidFill>
              </a:rPr>
              <a:t>14 of 17</a:t>
            </a:r>
          </a:p>
        </p:txBody>
      </p:sp>
      <p:sp>
        <p:nvSpPr>
          <p:cNvPr id="14" name="TextBox 13"/>
          <p:cNvSpPr txBox="1"/>
          <p:nvPr/>
        </p:nvSpPr>
        <p:spPr>
          <a:xfrm>
            <a:off x="8321040" y="5257800"/>
            <a:ext cx="3657600" cy="1097280"/>
          </a:xfrm>
          <a:prstGeom prst="rect">
            <a:avLst/>
          </a:prstGeom>
          <a:noFill/>
        </p:spPr>
        <p:txBody>
          <a:bodyPr wrap="square">
            <a:spAutoFit/>
          </a:bodyPr>
          <a:lstStyle/>
          <a:p>
            <a:pPr>
              <a:spcAft>
                <a:spcPts val="540"/>
              </a:spcAft>
            </a:pPr>
            <a:r>
              <a:rPr sz="1200" b="0">
                <a:solidFill>
                  <a:srgbClr val="555555"/>
                </a:solidFill>
              </a:rPr>
              <a:t>convex MINLPLib at the published objective, 16 accepted (bench/results/nlp-minlplib-ad57c03.csv)</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914400"/>
          </a:xfrm>
          <a:prstGeom prst="rect">
            <a:avLst/>
          </a:prstGeom>
          <a:noFill/>
        </p:spPr>
        <p:txBody>
          <a:bodyPr wrap="square">
            <a:spAutoFit/>
          </a:bodyPr>
          <a:lstStyle/>
          <a:p>
            <a:pPr>
              <a:spcAft>
                <a:spcPts val="1080"/>
              </a:spcAft>
            </a:pPr>
            <a:r>
              <a:rPr sz="2400" b="1">
                <a:solidFill>
                  <a:srgbClr val="FFFFFF"/>
                </a:solidFill>
              </a:rPr>
              <a:t>GPU: the first-order engine on an NVIDIA A100-SXM4-40GB, against the faster CPU arm</a:t>
            </a:r>
          </a:p>
        </p:txBody>
      </p:sp>
      <p:sp>
        <p:nvSpPr>
          <p:cNvPr id="4" name="Rectangle 3"/>
          <p:cNvSpPr/>
          <p:nvPr/>
        </p:nvSpPr>
        <p:spPr>
          <a:xfrm>
            <a:off x="0" y="6446520"/>
            <a:ext cx="12191695" cy="4114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11277295" cy="365760"/>
          </a:xfrm>
          <a:prstGeom prst="rect">
            <a:avLst/>
          </a:prstGeom>
          <a:noFill/>
        </p:spPr>
        <p:txBody>
          <a:bodyPr wrap="square">
            <a:spAutoFit/>
          </a:bodyPr>
          <a:lstStyle/>
          <a:p>
            <a:pPr>
              <a:spcAft>
                <a:spcPts val="450"/>
              </a:spcAft>
            </a:pPr>
            <a:r>
              <a:rPr sz="1000" b="0">
                <a:solidFill>
                  <a:srgbClr val="555555"/>
                </a:solidFill>
              </a:rPr>
              <a:t>Source: bench/results/gpu-real-a100-fdd1f35.csv (fdd1f35); docs/BENCHMARKS.md section 1g.3; the L4 run beside it in gpu-real-l4-58a8374.csv</a:t>
            </a:r>
          </a:p>
        </p:txBody>
      </p:sp>
      <p:graphicFrame>
        <p:nvGraphicFramePr>
          <p:cNvPr id="6" name="Table 5"/>
          <p:cNvGraphicFramePr>
            <a:graphicFrameLocks noGrp="1"/>
          </p:cNvGraphicFramePr>
          <p:nvPr/>
        </p:nvGraphicFramePr>
        <p:xfrm>
          <a:off x="457200" y="1280160"/>
          <a:ext cx="11277295" cy="2240280"/>
        </p:xfrm>
        <a:graphic>
          <a:graphicData uri="http://schemas.openxmlformats.org/drawingml/2006/table">
            <a:tbl>
              <a:tblPr firstRow="1" bandRow="1">
                <a:tableStyleId>{5C22544A-7EE6-4342-B048-85BDC9FD1C3A}</a:tableStyleId>
              </a:tblPr>
              <a:tblGrid>
                <a:gridCol w="1611042"/>
                <a:gridCol w="1611042"/>
                <a:gridCol w="1611042"/>
                <a:gridCol w="1611042"/>
                <a:gridCol w="1611042"/>
                <a:gridCol w="1611042"/>
                <a:gridCol w="1611043"/>
              </a:tblGrid>
              <a:tr h="320040">
                <a:tc>
                  <a:txBody>
                    <a:bodyPr/>
                    <a:lstStyle/>
                    <a:p>
                      <a:r>
                        <a:rPr sz="1200" b="1">
                          <a:solidFill>
                            <a:srgbClr val="FFFFFF"/>
                          </a:solidFill>
                        </a:rPr>
                        <a:t>model</a:t>
                      </a:r>
                    </a:p>
                  </a:txBody>
                  <a:tcPr>
                    <a:solidFill>
                      <a:srgbClr val="142B4F"/>
                    </a:solidFill>
                  </a:tcPr>
                </a:tc>
                <a:tc>
                  <a:txBody>
                    <a:bodyPr/>
                    <a:lstStyle/>
                    <a:p>
                      <a:r>
                        <a:rPr sz="1200" b="1">
                          <a:solidFill>
                            <a:srgbClr val="FFFFFF"/>
                          </a:solidFill>
                        </a:rPr>
                        <a:t>rows</a:t>
                      </a:r>
                    </a:p>
                  </a:txBody>
                  <a:tcPr>
                    <a:solidFill>
                      <a:srgbClr val="142B4F"/>
                    </a:solidFill>
                  </a:tcPr>
                </a:tc>
                <a:tc>
                  <a:txBody>
                    <a:bodyPr/>
                    <a:lstStyle/>
                    <a:p>
                      <a:r>
                        <a:rPr sz="1200" b="1">
                          <a:solidFill>
                            <a:srgbClr val="FFFFFF"/>
                          </a:solidFill>
                        </a:rPr>
                        <a:t>tolerance</a:t>
                      </a:r>
                    </a:p>
                  </a:txBody>
                  <a:tcPr>
                    <a:solidFill>
                      <a:srgbClr val="142B4F"/>
                    </a:solidFill>
                  </a:tcPr>
                </a:tc>
                <a:tc>
                  <a:txBody>
                    <a:bodyPr/>
                    <a:lstStyle/>
                    <a:p>
                      <a:r>
                        <a:rPr sz="1200" b="1">
                          <a:solidFill>
                            <a:srgbClr val="FFFFFF"/>
                          </a:solidFill>
                        </a:rPr>
                        <a:t>card</a:t>
                      </a:r>
                    </a:p>
                  </a:txBody>
                  <a:tcPr>
                    <a:solidFill>
                      <a:srgbClr val="142B4F"/>
                    </a:solidFill>
                  </a:tcPr>
                </a:tc>
                <a:tc>
                  <a:txBody>
                    <a:bodyPr/>
                    <a:lstStyle/>
                    <a:p>
                      <a:r>
                        <a:rPr sz="1200" b="1">
                          <a:solidFill>
                            <a:srgbClr val="FFFFFF"/>
                          </a:solidFill>
                        </a:rPr>
                        <a:t>faster CPU arm</a:t>
                      </a:r>
                    </a:p>
                  </a:txBody>
                  <a:tcPr>
                    <a:solidFill>
                      <a:srgbClr val="142B4F"/>
                    </a:solidFill>
                  </a:tcPr>
                </a:tc>
                <a:tc>
                  <a:txBody>
                    <a:bodyPr/>
                    <a:lstStyle/>
                    <a:p>
                      <a:r>
                        <a:rPr sz="1200" b="1">
                          <a:solidFill>
                            <a:srgbClr val="FFFFFF"/>
                          </a:solidFill>
                        </a:rPr>
                        <a:t>card status</a:t>
                      </a:r>
                    </a:p>
                  </a:txBody>
                  <a:tcPr>
                    <a:solidFill>
                      <a:srgbClr val="142B4F"/>
                    </a:solidFill>
                  </a:tcPr>
                </a:tc>
                <a:tc>
                  <a:txBody>
                    <a:bodyPr/>
                    <a:lstStyle/>
                    <a:p>
                      <a:r>
                        <a:rPr sz="1200" b="1">
                          <a:solidFill>
                            <a:srgbClr val="FFFFFF"/>
                          </a:solidFill>
                        </a:rPr>
                        <a:t>speed-up</a:t>
                      </a:r>
                    </a:p>
                  </a:txBody>
                  <a:tcPr>
                    <a:solidFill>
                      <a:srgbClr val="142B4F"/>
                    </a:solidFill>
                  </a:tcPr>
                </a:tc>
              </a:tr>
              <a:tr h="320040">
                <a:tc>
                  <a:txBody>
                    <a:bodyPr/>
                    <a:lstStyle/>
                    <a:p>
                      <a:r>
                        <a:rPr sz="1200" b="0">
                          <a:solidFill>
                            <a:srgbClr val="555555"/>
                          </a:solidFill>
                        </a:rPr>
                        <a:t>brazil3</a:t>
                      </a:r>
                    </a:p>
                  </a:txBody>
                  <a:tcPr>
                    <a:solidFill>
                      <a:srgbClr val="FFFFFF"/>
                    </a:solidFill>
                  </a:tcPr>
                </a:tc>
                <a:tc>
                  <a:txBody>
                    <a:bodyPr/>
                    <a:lstStyle/>
                    <a:p>
                      <a:r>
                        <a:rPr sz="1200" b="0">
                          <a:solidFill>
                            <a:srgbClr val="555555"/>
                          </a:solidFill>
                        </a:rPr>
                        <a:t>14,646</a:t>
                      </a:r>
                    </a:p>
                  </a:txBody>
                  <a:tcPr>
                    <a:solidFill>
                      <a:srgbClr val="FFFFFF"/>
                    </a:solidFill>
                  </a:tcPr>
                </a:tc>
                <a:tc>
                  <a:txBody>
                    <a:bodyPr/>
                    <a:lstStyle/>
                    <a:p>
                      <a:r>
                        <a:rPr sz="1200" b="0">
                          <a:solidFill>
                            <a:srgbClr val="555555"/>
                          </a:solidFill>
                        </a:rPr>
                        <a:t>1e-04</a:t>
                      </a:r>
                    </a:p>
                  </a:txBody>
                  <a:tcPr>
                    <a:solidFill>
                      <a:srgbClr val="FFFFFF"/>
                    </a:solidFill>
                  </a:tcPr>
                </a:tc>
                <a:tc>
                  <a:txBody>
                    <a:bodyPr/>
                    <a:lstStyle/>
                    <a:p>
                      <a:r>
                        <a:rPr sz="1200" b="0">
                          <a:solidFill>
                            <a:srgbClr val="555555"/>
                          </a:solidFill>
                        </a:rPr>
                        <a:t>5.2 s</a:t>
                      </a:r>
                    </a:p>
                  </a:txBody>
                  <a:tcPr>
                    <a:solidFill>
                      <a:srgbClr val="FFFFFF"/>
                    </a:solidFill>
                  </a:tcPr>
                </a:tc>
                <a:tc>
                  <a:txBody>
                    <a:bodyPr/>
                    <a:lstStyle/>
                    <a:p>
                      <a:r>
                        <a:rPr sz="1200" b="0">
                          <a:solidFill>
                            <a:srgbClr val="555555"/>
                          </a:solidFill>
                        </a:rPr>
                        <a:t>38.7 s (cpu-16t)</a:t>
                      </a:r>
                    </a:p>
                  </a:txBody>
                  <a:tcPr>
                    <a:solidFill>
                      <a:srgbClr val="FFFFFF"/>
                    </a:solidFill>
                  </a:tcPr>
                </a:tc>
                <a:tc>
                  <a:txBody>
                    <a:bodyPr/>
                    <a:lstStyle/>
                    <a:p>
                      <a:r>
                        <a:rPr sz="1200" b="0">
                          <a:solidFill>
                            <a:srgbClr val="555555"/>
                          </a:solidFill>
                        </a:rPr>
                        <a:t>feasible</a:t>
                      </a:r>
                    </a:p>
                  </a:txBody>
                  <a:tcPr>
                    <a:solidFill>
                      <a:srgbClr val="FFFFFF"/>
                    </a:solidFill>
                  </a:tcPr>
                </a:tc>
                <a:tc>
                  <a:txBody>
                    <a:bodyPr/>
                    <a:lstStyle/>
                    <a:p>
                      <a:r>
                        <a:rPr sz="1200" b="0">
                          <a:solidFill>
                            <a:srgbClr val="555555"/>
                          </a:solidFill>
                        </a:rPr>
                        <a:t>7.50x</a:t>
                      </a:r>
                    </a:p>
                  </a:txBody>
                  <a:tcPr>
                    <a:solidFill>
                      <a:srgbClr val="FFFFFF"/>
                    </a:solidFill>
                  </a:tcPr>
                </a:tc>
              </a:tr>
              <a:tr h="320040">
                <a:tc>
                  <a:txBody>
                    <a:bodyPr/>
                    <a:lstStyle/>
                    <a:p>
                      <a:r>
                        <a:rPr sz="1200" b="0">
                          <a:solidFill>
                            <a:srgbClr val="555555"/>
                          </a:solidFill>
                        </a:rPr>
                        <a:t>brazil3</a:t>
                      </a:r>
                    </a:p>
                  </a:txBody>
                  <a:tcPr>
                    <a:solidFill>
                      <a:srgbClr val="F2F4F7"/>
                    </a:solidFill>
                  </a:tcPr>
                </a:tc>
                <a:tc>
                  <a:txBody>
                    <a:bodyPr/>
                    <a:lstStyle/>
                    <a:p>
                      <a:r>
                        <a:rPr sz="1200" b="0">
                          <a:solidFill>
                            <a:srgbClr val="555555"/>
                          </a:solidFill>
                        </a:rPr>
                        <a:t>14,646</a:t>
                      </a:r>
                    </a:p>
                  </a:txBody>
                  <a:tcPr>
                    <a:solidFill>
                      <a:srgbClr val="F2F4F7"/>
                    </a:solidFill>
                  </a:tcPr>
                </a:tc>
                <a:tc>
                  <a:txBody>
                    <a:bodyPr/>
                    <a:lstStyle/>
                    <a:p>
                      <a:r>
                        <a:rPr sz="1200" b="0">
                          <a:solidFill>
                            <a:srgbClr val="555555"/>
                          </a:solidFill>
                        </a:rPr>
                        <a:t>1e-08</a:t>
                      </a:r>
                    </a:p>
                  </a:txBody>
                  <a:tcPr>
                    <a:solidFill>
                      <a:srgbClr val="F2F4F7"/>
                    </a:solidFill>
                  </a:tcPr>
                </a:tc>
                <a:tc>
                  <a:txBody>
                    <a:bodyPr/>
                    <a:lstStyle/>
                    <a:p>
                      <a:r>
                        <a:rPr sz="1200" b="0">
                          <a:solidFill>
                            <a:srgbClr val="555555"/>
                          </a:solidFill>
                        </a:rPr>
                        <a:t>10.5 s</a:t>
                      </a:r>
                    </a:p>
                  </a:txBody>
                  <a:tcPr>
                    <a:solidFill>
                      <a:srgbClr val="F2F4F7"/>
                    </a:solidFill>
                  </a:tcPr>
                </a:tc>
                <a:tc>
                  <a:txBody>
                    <a:bodyPr/>
                    <a:lstStyle/>
                    <a:p>
                      <a:r>
                        <a:rPr sz="1200" b="0">
                          <a:solidFill>
                            <a:srgbClr val="555555"/>
                          </a:solidFill>
                        </a:rPr>
                        <a:t>91.8 s (cpu-16t)</a:t>
                      </a:r>
                    </a:p>
                  </a:txBody>
                  <a:tcPr>
                    <a:solidFill>
                      <a:srgbClr val="F2F4F7"/>
                    </a:solidFill>
                  </a:tcPr>
                </a:tc>
                <a:tc>
                  <a:txBody>
                    <a:bodyPr/>
                    <a:lstStyle/>
                    <a:p>
                      <a:r>
                        <a:rPr sz="1200" b="0">
                          <a:solidFill>
                            <a:srgbClr val="555555"/>
                          </a:solidFill>
                        </a:rPr>
                        <a:t>feasible</a:t>
                      </a:r>
                    </a:p>
                  </a:txBody>
                  <a:tcPr>
                    <a:solidFill>
                      <a:srgbClr val="F2F4F7"/>
                    </a:solidFill>
                  </a:tcPr>
                </a:tc>
                <a:tc>
                  <a:txBody>
                    <a:bodyPr/>
                    <a:lstStyle/>
                    <a:p>
                      <a:r>
                        <a:rPr sz="1200" b="0">
                          <a:solidFill>
                            <a:srgbClr val="555555"/>
                          </a:solidFill>
                        </a:rPr>
                        <a:t>8.72x</a:t>
                      </a:r>
                    </a:p>
                  </a:txBody>
                  <a:tcPr>
                    <a:solidFill>
                      <a:srgbClr val="F2F4F7"/>
                    </a:solidFill>
                  </a:tcPr>
                </a:tc>
              </a:tr>
              <a:tr h="320040">
                <a:tc>
                  <a:txBody>
                    <a:bodyPr/>
                    <a:lstStyle/>
                    <a:p>
                      <a:r>
                        <a:rPr sz="1200" b="0">
                          <a:solidFill>
                            <a:srgbClr val="555555"/>
                          </a:solidFill>
                        </a:rPr>
                        <a:t>chromaticindex1024-7</a:t>
                      </a:r>
                    </a:p>
                  </a:txBody>
                  <a:tcPr>
                    <a:solidFill>
                      <a:srgbClr val="FFFFFF"/>
                    </a:solidFill>
                  </a:tcPr>
                </a:tc>
                <a:tc>
                  <a:txBody>
                    <a:bodyPr/>
                    <a:lstStyle/>
                    <a:p>
                      <a:r>
                        <a:rPr sz="1200" b="0">
                          <a:solidFill>
                            <a:srgbClr val="555555"/>
                          </a:solidFill>
                        </a:rPr>
                        <a:t>67,583</a:t>
                      </a:r>
                    </a:p>
                  </a:txBody>
                  <a:tcPr>
                    <a:solidFill>
                      <a:srgbClr val="FFFFFF"/>
                    </a:solidFill>
                  </a:tcPr>
                </a:tc>
                <a:tc>
                  <a:txBody>
                    <a:bodyPr/>
                    <a:lstStyle/>
                    <a:p>
                      <a:r>
                        <a:rPr sz="1200" b="0">
                          <a:solidFill>
                            <a:srgbClr val="555555"/>
                          </a:solidFill>
                        </a:rPr>
                        <a:t>1e-04</a:t>
                      </a:r>
                    </a:p>
                  </a:txBody>
                  <a:tcPr>
                    <a:solidFill>
                      <a:srgbClr val="FFFFFF"/>
                    </a:solidFill>
                  </a:tcPr>
                </a:tc>
                <a:tc>
                  <a:txBody>
                    <a:bodyPr/>
                    <a:lstStyle/>
                    <a:p>
                      <a:r>
                        <a:rPr sz="1200" b="0">
                          <a:solidFill>
                            <a:srgbClr val="555555"/>
                          </a:solidFill>
                        </a:rPr>
                        <a:t>0.4 s</a:t>
                      </a:r>
                    </a:p>
                  </a:txBody>
                  <a:tcPr>
                    <a:solidFill>
                      <a:srgbClr val="FFFFFF"/>
                    </a:solidFill>
                  </a:tcPr>
                </a:tc>
                <a:tc>
                  <a:txBody>
                    <a:bodyPr/>
                    <a:lstStyle/>
                    <a:p>
                      <a:r>
                        <a:rPr sz="1200" b="0">
                          <a:solidFill>
                            <a:srgbClr val="555555"/>
                          </a:solidFill>
                        </a:rPr>
                        <a:t>0.9 s (cpu-16t)</a:t>
                      </a:r>
                    </a:p>
                  </a:txBody>
                  <a:tcPr>
                    <a:solidFill>
                      <a:srgbClr val="FFFFFF"/>
                    </a:solidFill>
                  </a:tcPr>
                </a:tc>
                <a:tc>
                  <a:txBody>
                    <a:bodyPr/>
                    <a:lstStyle/>
                    <a:p>
                      <a:r>
                        <a:rPr sz="1200" b="0">
                          <a:solidFill>
                            <a:srgbClr val="555555"/>
                          </a:solidFill>
                        </a:rPr>
                        <a:t>feasible</a:t>
                      </a:r>
                    </a:p>
                  </a:txBody>
                  <a:tcPr>
                    <a:solidFill>
                      <a:srgbClr val="FFFFFF"/>
                    </a:solidFill>
                  </a:tcPr>
                </a:tc>
                <a:tc>
                  <a:txBody>
                    <a:bodyPr/>
                    <a:lstStyle/>
                    <a:p>
                      <a:r>
                        <a:rPr sz="1200" b="0">
                          <a:solidFill>
                            <a:srgbClr val="555555"/>
                          </a:solidFill>
                        </a:rPr>
                        <a:t>2.02x</a:t>
                      </a:r>
                    </a:p>
                  </a:txBody>
                  <a:tcPr>
                    <a:solidFill>
                      <a:srgbClr val="FFFFFF"/>
                    </a:solidFill>
                  </a:tcPr>
                </a:tc>
              </a:tr>
              <a:tr h="320040">
                <a:tc>
                  <a:txBody>
                    <a:bodyPr/>
                    <a:lstStyle/>
                    <a:p>
                      <a:r>
                        <a:rPr sz="1200" b="0">
                          <a:solidFill>
                            <a:srgbClr val="555555"/>
                          </a:solidFill>
                        </a:rPr>
                        <a:t>chromaticindex1024-7</a:t>
                      </a:r>
                    </a:p>
                  </a:txBody>
                  <a:tcPr>
                    <a:solidFill>
                      <a:srgbClr val="F2F4F7"/>
                    </a:solidFill>
                  </a:tcPr>
                </a:tc>
                <a:tc>
                  <a:txBody>
                    <a:bodyPr/>
                    <a:lstStyle/>
                    <a:p>
                      <a:r>
                        <a:rPr sz="1200" b="0">
                          <a:solidFill>
                            <a:srgbClr val="555555"/>
                          </a:solidFill>
                        </a:rPr>
                        <a:t>67,583</a:t>
                      </a:r>
                    </a:p>
                  </a:txBody>
                  <a:tcPr>
                    <a:solidFill>
                      <a:srgbClr val="F2F4F7"/>
                    </a:solidFill>
                  </a:tcPr>
                </a:tc>
                <a:tc>
                  <a:txBody>
                    <a:bodyPr/>
                    <a:lstStyle/>
                    <a:p>
                      <a:r>
                        <a:rPr sz="1200" b="0">
                          <a:solidFill>
                            <a:srgbClr val="555555"/>
                          </a:solidFill>
                        </a:rPr>
                        <a:t>1e-08</a:t>
                      </a:r>
                    </a:p>
                  </a:txBody>
                  <a:tcPr>
                    <a:solidFill>
                      <a:srgbClr val="F2F4F7"/>
                    </a:solidFill>
                  </a:tcPr>
                </a:tc>
                <a:tc>
                  <a:txBody>
                    <a:bodyPr/>
                    <a:lstStyle/>
                    <a:p>
                      <a:r>
                        <a:rPr sz="1200" b="0">
                          <a:solidFill>
                            <a:srgbClr val="555555"/>
                          </a:solidFill>
                        </a:rPr>
                        <a:t>0.5 s</a:t>
                      </a:r>
                    </a:p>
                  </a:txBody>
                  <a:tcPr>
                    <a:solidFill>
                      <a:srgbClr val="F2F4F7"/>
                    </a:solidFill>
                  </a:tcPr>
                </a:tc>
                <a:tc>
                  <a:txBody>
                    <a:bodyPr/>
                    <a:lstStyle/>
                    <a:p>
                      <a:r>
                        <a:rPr sz="1200" b="0">
                          <a:solidFill>
                            <a:srgbClr val="555555"/>
                          </a:solidFill>
                        </a:rPr>
                        <a:t>0.9 s (cpu-16t)</a:t>
                      </a:r>
                    </a:p>
                  </a:txBody>
                  <a:tcPr>
                    <a:solidFill>
                      <a:srgbClr val="F2F4F7"/>
                    </a:solidFill>
                  </a:tcPr>
                </a:tc>
                <a:tc>
                  <a:txBody>
                    <a:bodyPr/>
                    <a:lstStyle/>
                    <a:p>
                      <a:r>
                        <a:rPr sz="1200" b="0">
                          <a:solidFill>
                            <a:srgbClr val="555555"/>
                          </a:solidFill>
                        </a:rPr>
                        <a:t>feasible</a:t>
                      </a:r>
                    </a:p>
                  </a:txBody>
                  <a:tcPr>
                    <a:solidFill>
                      <a:srgbClr val="F2F4F7"/>
                    </a:solidFill>
                  </a:tcPr>
                </a:tc>
                <a:tc>
                  <a:txBody>
                    <a:bodyPr/>
                    <a:lstStyle/>
                    <a:p>
                      <a:r>
                        <a:rPr sz="1200" b="0">
                          <a:solidFill>
                            <a:srgbClr val="555555"/>
                          </a:solidFill>
                        </a:rPr>
                        <a:t>1.65x</a:t>
                      </a:r>
                    </a:p>
                  </a:txBody>
                  <a:tcPr>
                    <a:solidFill>
                      <a:srgbClr val="F2F4F7"/>
                    </a:solidFill>
                  </a:tcPr>
                </a:tc>
              </a:tr>
              <a:tr h="320040">
                <a:tc>
                  <a:txBody>
                    <a:bodyPr/>
                    <a:lstStyle/>
                    <a:p>
                      <a:r>
                        <a:rPr sz="1200" b="0">
                          <a:solidFill>
                            <a:srgbClr val="555555"/>
                          </a:solidFill>
                        </a:rPr>
                        <a:t>refinery_year</a:t>
                      </a:r>
                    </a:p>
                  </a:txBody>
                  <a:tcPr>
                    <a:solidFill>
                      <a:srgbClr val="FFFFFF"/>
                    </a:solidFill>
                  </a:tcPr>
                </a:tc>
                <a:tc>
                  <a:txBody>
                    <a:bodyPr/>
                    <a:lstStyle/>
                    <a:p>
                      <a:r>
                        <a:rPr sz="1200" b="0">
                          <a:solidFill>
                            <a:srgbClr val="555555"/>
                          </a:solidFill>
                        </a:rPr>
                        <a:t>779,640</a:t>
                      </a:r>
                    </a:p>
                  </a:txBody>
                  <a:tcPr>
                    <a:solidFill>
                      <a:srgbClr val="FFFFFF"/>
                    </a:solidFill>
                  </a:tcPr>
                </a:tc>
                <a:tc>
                  <a:txBody>
                    <a:bodyPr/>
                    <a:lstStyle/>
                    <a:p>
                      <a:r>
                        <a:rPr sz="1200" b="0">
                          <a:solidFill>
                            <a:srgbClr val="555555"/>
                          </a:solidFill>
                        </a:rPr>
                        <a:t>1e-04</a:t>
                      </a:r>
                    </a:p>
                  </a:txBody>
                  <a:tcPr>
                    <a:solidFill>
                      <a:srgbClr val="FFFFFF"/>
                    </a:solidFill>
                  </a:tcPr>
                </a:tc>
                <a:tc>
                  <a:txBody>
                    <a:bodyPr/>
                    <a:lstStyle/>
                    <a:p>
                      <a:r>
                        <a:rPr sz="1200" b="0">
                          <a:solidFill>
                            <a:srgbClr val="555555"/>
                          </a:solidFill>
                        </a:rPr>
                        <a:t>300.5 s</a:t>
                      </a:r>
                    </a:p>
                  </a:txBody>
                  <a:tcPr>
                    <a:solidFill>
                      <a:srgbClr val="FFFFFF"/>
                    </a:solidFill>
                  </a:tcPr>
                </a:tc>
                <a:tc>
                  <a:txBody>
                    <a:bodyPr/>
                    <a:lstStyle/>
                    <a:p>
                      <a:r>
                        <a:rPr sz="1200" b="0">
                          <a:solidFill>
                            <a:srgbClr val="555555"/>
                          </a:solidFill>
                        </a:rPr>
                        <a:t>300.5 s (cpu-1t)</a:t>
                      </a:r>
                    </a:p>
                  </a:txBody>
                  <a:tcPr>
                    <a:solidFill>
                      <a:srgbClr val="FFFFFF"/>
                    </a:solidFill>
                  </a:tcPr>
                </a:tc>
                <a:tc>
                  <a:txBody>
                    <a:bodyPr/>
                    <a:lstStyle/>
                    <a:p>
                      <a:r>
                        <a:rPr sz="1200" b="0">
                          <a:solidFill>
                            <a:srgbClr val="555555"/>
                          </a:solidFill>
                        </a:rPr>
                        <a:t>time_limit</a:t>
                      </a:r>
                    </a:p>
                  </a:txBody>
                  <a:tcPr>
                    <a:solidFill>
                      <a:srgbClr val="FFFFFF"/>
                    </a:solidFill>
                  </a:tcPr>
                </a:tc>
                <a:tc>
                  <a:txBody>
                    <a:bodyPr/>
                    <a:lstStyle/>
                    <a:p>
                      <a:r>
                        <a:rPr sz="1200" b="0">
                          <a:solidFill>
                            <a:srgbClr val="555555"/>
                          </a:solidFill>
                        </a:rPr>
                        <a:t>1.00x</a:t>
                      </a:r>
                    </a:p>
                  </a:txBody>
                  <a:tcPr>
                    <a:solidFill>
                      <a:srgbClr val="FFFFFF"/>
                    </a:solidFill>
                  </a:tcPr>
                </a:tc>
              </a:tr>
              <a:tr h="320040">
                <a:tc>
                  <a:txBody>
                    <a:bodyPr/>
                    <a:lstStyle/>
                    <a:p>
                      <a:r>
                        <a:rPr sz="1200" b="0">
                          <a:solidFill>
                            <a:srgbClr val="555555"/>
                          </a:solidFill>
                        </a:rPr>
                        <a:t>refinery_year</a:t>
                      </a:r>
                    </a:p>
                  </a:txBody>
                  <a:tcPr>
                    <a:solidFill>
                      <a:srgbClr val="F2F4F7"/>
                    </a:solidFill>
                  </a:tcPr>
                </a:tc>
                <a:tc>
                  <a:txBody>
                    <a:bodyPr/>
                    <a:lstStyle/>
                    <a:p>
                      <a:r>
                        <a:rPr sz="1200" b="0">
                          <a:solidFill>
                            <a:srgbClr val="555555"/>
                          </a:solidFill>
                        </a:rPr>
                        <a:t>779,640</a:t>
                      </a:r>
                    </a:p>
                  </a:txBody>
                  <a:tcPr>
                    <a:solidFill>
                      <a:srgbClr val="F2F4F7"/>
                    </a:solidFill>
                  </a:tcPr>
                </a:tc>
                <a:tc>
                  <a:txBody>
                    <a:bodyPr/>
                    <a:lstStyle/>
                    <a:p>
                      <a:r>
                        <a:rPr sz="1200" b="0">
                          <a:solidFill>
                            <a:srgbClr val="555555"/>
                          </a:solidFill>
                        </a:rPr>
                        <a:t>1e-08</a:t>
                      </a:r>
                    </a:p>
                  </a:txBody>
                  <a:tcPr>
                    <a:solidFill>
                      <a:srgbClr val="F2F4F7"/>
                    </a:solidFill>
                  </a:tcPr>
                </a:tc>
                <a:tc>
                  <a:txBody>
                    <a:bodyPr/>
                    <a:lstStyle/>
                    <a:p>
                      <a:r>
                        <a:rPr sz="1200" b="0">
                          <a:solidFill>
                            <a:srgbClr val="555555"/>
                          </a:solidFill>
                        </a:rPr>
                        <a:t>300.5 s</a:t>
                      </a:r>
                    </a:p>
                  </a:txBody>
                  <a:tcPr>
                    <a:solidFill>
                      <a:srgbClr val="F2F4F7"/>
                    </a:solidFill>
                  </a:tcPr>
                </a:tc>
                <a:tc>
                  <a:txBody>
                    <a:bodyPr/>
                    <a:lstStyle/>
                    <a:p>
                      <a:r>
                        <a:rPr sz="1200" b="0">
                          <a:solidFill>
                            <a:srgbClr val="555555"/>
                          </a:solidFill>
                        </a:rPr>
                        <a:t>300.5 s (cpu-1t)</a:t>
                      </a:r>
                    </a:p>
                  </a:txBody>
                  <a:tcPr>
                    <a:solidFill>
                      <a:srgbClr val="F2F4F7"/>
                    </a:solidFill>
                  </a:tcPr>
                </a:tc>
                <a:tc>
                  <a:txBody>
                    <a:bodyPr/>
                    <a:lstStyle/>
                    <a:p>
                      <a:r>
                        <a:rPr sz="1200" b="0">
                          <a:solidFill>
                            <a:srgbClr val="555555"/>
                          </a:solidFill>
                        </a:rPr>
                        <a:t>time_limit</a:t>
                      </a:r>
                    </a:p>
                  </a:txBody>
                  <a:tcPr>
                    <a:solidFill>
                      <a:srgbClr val="F2F4F7"/>
                    </a:solidFill>
                  </a:tcPr>
                </a:tc>
                <a:tc>
                  <a:txBody>
                    <a:bodyPr/>
                    <a:lstStyle/>
                    <a:p>
                      <a:r>
                        <a:rPr sz="1200" b="0">
                          <a:solidFill>
                            <a:srgbClr val="555555"/>
                          </a:solidFill>
                        </a:rPr>
                        <a:t>1.00x</a:t>
                      </a:r>
                    </a:p>
                  </a:txBody>
                  <a:tcPr>
                    <a:solidFill>
                      <a:srgbClr val="F2F4F7"/>
                    </a:solidFill>
                  </a:tcPr>
                </a:tc>
              </a:tr>
            </a:tbl>
          </a:graphicData>
        </a:graphic>
      </p:graphicFrame>
      <p:sp>
        <p:nvSpPr>
          <p:cNvPr id="7" name="TextBox 6"/>
          <p:cNvSpPr txBox="1"/>
          <p:nvPr/>
        </p:nvSpPr>
        <p:spPr>
          <a:xfrm>
            <a:off x="457200" y="3977640"/>
            <a:ext cx="11277295" cy="2377440"/>
          </a:xfrm>
          <a:prstGeom prst="rect">
            <a:avLst/>
          </a:prstGeom>
          <a:noFill/>
        </p:spPr>
        <p:txBody>
          <a:bodyPr wrap="square">
            <a:spAutoFit/>
          </a:bodyPr>
          <a:lstStyle/>
          <a:p>
            <a:pPr>
              <a:spcAft>
                <a:spcPts val="585"/>
              </a:spcAft>
            </a:pPr>
            <a:r>
              <a:rPr sz="1300" b="0">
                <a:solidFill>
                  <a:srgbClr val="555555"/>
                </a:solidFill>
              </a:rPr>
              <a:t>1.00x to 8.72x over 6 model-tolerance cells, 2 of them ending at the time limit on every arm. The card wins where the model is large and loses below about 10,000 rows, where launching kernels costs more than the arithmetic; the readme and section 1g name the losses.</a:t>
            </a:r>
          </a:p>
          <a:p>
            <a:pPr>
              <a:spcAft>
                <a:spcPts val="585"/>
              </a:spcAft>
            </a:pPr>
            <a:r>
              <a:rPr sz="1300" b="0">
                <a:solidFill>
                  <a:srgbClr val="555555"/>
                </a:solidFill>
              </a:rPr>
              <a:t>The CUDA port is the same restarted PDHG: cuSPARSE products, CUB reductions in a fixed order (deterministic), the iteration loop captured as a CUDA graph, convergence evaluated on the device. A CPU build with no card warns and solves on the CPU; the CUDA archive is compiled in CI without a card.</a:t>
            </a:r>
          </a:p>
          <a:p>
            <a:pPr>
              <a:spcAft>
                <a:spcPts val="585"/>
              </a:spcAft>
            </a:pPr>
            <a:r>
              <a:rPr sz="1300" b="0">
                <a:solidFill>
                  <a:srgbClr val="555555"/>
                </a:solidFill>
              </a:rPr>
              <a:t>HiGHS on the same host is still faster on brazil3 than the card at 1e-8 (readme, section 1g.3): the GPU story is a real speed-up of our own engine, not a claim over the field.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914400"/>
          </a:xfrm>
          <a:prstGeom prst="rect">
            <a:avLst/>
          </a:prstGeom>
          <a:noFill/>
        </p:spPr>
        <p:txBody>
          <a:bodyPr wrap="square">
            <a:spAutoFit/>
          </a:bodyPr>
          <a:lstStyle/>
          <a:p>
            <a:pPr>
              <a:spcAft>
                <a:spcPts val="1080"/>
              </a:spcAft>
            </a:pPr>
            <a:r>
              <a:rPr sz="2400" b="1">
                <a:solidFill>
                  <a:srgbClr val="FFFFFF"/>
                </a:solidFill>
              </a:rPr>
              <a:t>Scale: a million rows on the CPU, and where large LPs stop today</a:t>
            </a:r>
          </a:p>
        </p:txBody>
      </p:sp>
      <p:sp>
        <p:nvSpPr>
          <p:cNvPr id="4" name="Rectangle 3"/>
          <p:cNvSpPr/>
          <p:nvPr/>
        </p:nvSpPr>
        <p:spPr>
          <a:xfrm>
            <a:off x="0" y="6446520"/>
            <a:ext cx="12191695" cy="4114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11277295" cy="365760"/>
          </a:xfrm>
          <a:prstGeom prst="rect">
            <a:avLst/>
          </a:prstGeom>
          <a:noFill/>
        </p:spPr>
        <p:txBody>
          <a:bodyPr wrap="square">
            <a:spAutoFit/>
          </a:bodyPr>
          <a:lstStyle/>
          <a:p>
            <a:pPr>
              <a:spcAft>
                <a:spcPts val="450"/>
              </a:spcAft>
            </a:pPr>
            <a:r>
              <a:rPr sz="1000" b="0">
                <a:solidFill>
                  <a:srgbClr val="555555"/>
                </a:solidFill>
              </a:rPr>
              <a:t>Source: bench/results/million-cpu-b561fba.csv (b561fba); bench/results/mittelmann-72123ff.csv (72123ff); bench/results/kennington-full-9463fd7.csv (9463fd7)</a:t>
            </a:r>
          </a:p>
        </p:txBody>
      </p:sp>
      <p:sp>
        <p:nvSpPr>
          <p:cNvPr id="6" name="TextBox 5"/>
          <p:cNvSpPr txBox="1"/>
          <p:nvPr/>
        </p:nvSpPr>
        <p:spPr>
          <a:xfrm>
            <a:off x="457200" y="1371600"/>
            <a:ext cx="5486400" cy="822960"/>
          </a:xfrm>
          <a:prstGeom prst="rect">
            <a:avLst/>
          </a:prstGeom>
          <a:noFill/>
        </p:spPr>
        <p:txBody>
          <a:bodyPr wrap="square">
            <a:spAutoFit/>
          </a:bodyPr>
          <a:lstStyle/>
          <a:p>
            <a:pPr>
              <a:spcAft>
                <a:spcPts val="1620"/>
              </a:spcAft>
            </a:pPr>
            <a:r>
              <a:rPr sz="3600" b="1">
                <a:solidFill>
                  <a:srgbClr val="D96C1F"/>
                </a:solidFill>
              </a:rPr>
              <a:t>2 of 9</a:t>
            </a:r>
          </a:p>
        </p:txBody>
      </p:sp>
      <p:sp>
        <p:nvSpPr>
          <p:cNvPr id="7" name="TextBox 6"/>
          <p:cNvSpPr txBox="1"/>
          <p:nvPr/>
        </p:nvSpPr>
        <p:spPr>
          <a:xfrm>
            <a:off x="457200" y="2148840"/>
            <a:ext cx="5486400" cy="1097280"/>
          </a:xfrm>
          <a:prstGeom prst="rect">
            <a:avLst/>
          </a:prstGeom>
          <a:noFill/>
        </p:spPr>
        <p:txBody>
          <a:bodyPr wrap="square">
            <a:spAutoFit/>
          </a:bodyPr>
          <a:lstStyle/>
          <a:p>
            <a:pPr>
              <a:spcAft>
                <a:spcPts val="540"/>
              </a:spcAft>
            </a:pPr>
            <a:r>
              <a:rPr sz="1200" b="0">
                <a:solidFill>
                  <a:srgbClr val="555555"/>
                </a:solidFill>
              </a:rPr>
              <a:t>engine runs at a million rows optimal and verified: transport 1,000,000 rows by pdhg in 119 s; refinery 1,007,400 rows by pdhg in 2,336 s</a:t>
            </a:r>
          </a:p>
        </p:txBody>
      </p:sp>
      <p:sp>
        <p:nvSpPr>
          <p:cNvPr id="8" name="TextBox 7"/>
          <p:cNvSpPr txBox="1"/>
          <p:nvPr/>
        </p:nvSpPr>
        <p:spPr>
          <a:xfrm>
            <a:off x="6400800" y="1371600"/>
            <a:ext cx="5029200" cy="822960"/>
          </a:xfrm>
          <a:prstGeom prst="rect">
            <a:avLst/>
          </a:prstGeom>
          <a:noFill/>
        </p:spPr>
        <p:txBody>
          <a:bodyPr wrap="square">
            <a:spAutoFit/>
          </a:bodyPr>
          <a:lstStyle/>
          <a:p>
            <a:pPr>
              <a:spcAft>
                <a:spcPts val="1620"/>
              </a:spcAft>
            </a:pPr>
            <a:r>
              <a:rPr sz="3600" b="1">
                <a:solidFill>
                  <a:srgbClr val="D96C1F"/>
                </a:solidFill>
              </a:rPr>
              <a:t>16 of 16</a:t>
            </a:r>
          </a:p>
        </p:txBody>
      </p:sp>
      <p:sp>
        <p:nvSpPr>
          <p:cNvPr id="9" name="TextBox 8"/>
          <p:cNvSpPr txBox="1"/>
          <p:nvPr/>
        </p:nvSpPr>
        <p:spPr>
          <a:xfrm>
            <a:off x="6400800" y="2148840"/>
            <a:ext cx="5029200" cy="1097280"/>
          </a:xfrm>
          <a:prstGeom prst="rect">
            <a:avLst/>
          </a:prstGeom>
          <a:noFill/>
        </p:spPr>
        <p:txBody>
          <a:bodyPr wrap="square">
            <a:spAutoFit/>
          </a:bodyPr>
          <a:lstStyle/>
          <a:p>
            <a:pPr>
              <a:spcAft>
                <a:spcPts val="540"/>
              </a:spcAft>
            </a:pPr>
            <a:r>
              <a:rPr sz="1200" b="0">
                <a:solidFill>
                  <a:srgbClr val="555555"/>
                </a:solidFill>
              </a:rPr>
              <a:t>Kennington LPs matched to the published optimum and verified (bench/results/kennington-full-9463fd7.csv)</a:t>
            </a:r>
          </a:p>
        </p:txBody>
      </p:sp>
      <p:sp>
        <p:nvSpPr>
          <p:cNvPr id="10" name="TextBox 9"/>
          <p:cNvSpPr txBox="1"/>
          <p:nvPr/>
        </p:nvSpPr>
        <p:spPr>
          <a:xfrm>
            <a:off x="457200" y="3840480"/>
            <a:ext cx="5486400" cy="822960"/>
          </a:xfrm>
          <a:prstGeom prst="rect">
            <a:avLst/>
          </a:prstGeom>
          <a:noFill/>
        </p:spPr>
        <p:txBody>
          <a:bodyPr wrap="square">
            <a:spAutoFit/>
          </a:bodyPr>
          <a:lstStyle/>
          <a:p>
            <a:pPr>
              <a:spcAft>
                <a:spcPts val="1620"/>
              </a:spcAft>
            </a:pPr>
            <a:r>
              <a:rPr sz="3600" b="1">
                <a:solidFill>
                  <a:srgbClr val="D96C1F"/>
                </a:solidFill>
              </a:rPr>
              <a:t>5 of 12</a:t>
            </a:r>
          </a:p>
        </p:txBody>
      </p:sp>
      <p:sp>
        <p:nvSpPr>
          <p:cNvPr id="11" name="TextBox 10"/>
          <p:cNvSpPr txBox="1"/>
          <p:nvPr/>
        </p:nvSpPr>
        <p:spPr>
          <a:xfrm>
            <a:off x="457200" y="4617720"/>
            <a:ext cx="5486400" cy="1097280"/>
          </a:xfrm>
          <a:prstGeom prst="rect">
            <a:avLst/>
          </a:prstGeom>
          <a:noFill/>
        </p:spPr>
        <p:txBody>
          <a:bodyPr wrap="square">
            <a:spAutoFit/>
          </a:bodyPr>
          <a:lstStyle/>
          <a:p>
            <a:pPr>
              <a:spcAft>
                <a:spcPts val="540"/>
              </a:spcAft>
            </a:pPr>
            <a:r>
              <a:rPr sz="1200" b="0">
                <a:solidFill>
                  <a:srgbClr val="555555"/>
                </a:solidFill>
              </a:rPr>
              <a:t>Mittelmann LPs solved and verified inside the limit (bench/results/mittelmann-72123ff.csv). This is where the solver stops: the rest end on the interior point's ordering budget or the time limit, named row by row in docs/BENCHMARKS.md section 1d.</a:t>
            </a:r>
          </a:p>
        </p:txBody>
      </p:sp>
      <p:sp>
        <p:nvSpPr>
          <p:cNvPr id="12" name="TextBox 11"/>
          <p:cNvSpPr txBox="1"/>
          <p:nvPr/>
        </p:nvSpPr>
        <p:spPr>
          <a:xfrm>
            <a:off x="6400800" y="3840480"/>
            <a:ext cx="5029200" cy="2286000"/>
          </a:xfrm>
          <a:prstGeom prst="rect">
            <a:avLst/>
          </a:prstGeom>
          <a:noFill/>
        </p:spPr>
        <p:txBody>
          <a:bodyPr wrap="square">
            <a:spAutoFit/>
          </a:bodyPr>
          <a:lstStyle/>
          <a:p>
            <a:pPr>
              <a:spcAft>
                <a:spcPts val="585"/>
              </a:spcAft>
            </a:pPr>
            <a:r>
              <a:rPr sz="1300" b="0">
                <a:solidFill>
                  <a:srgbClr val="555555"/>
                </a:solidFill>
              </a:rPr>
              <a:t>Large LPs are routed by the normal-equations bound and the dual's work: the simplex below, the interior point above, PDHG for what neither factors. Time limits reach inside the factorization, so a run stops on time, not when the factor happens to finish.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914400"/>
          </a:xfrm>
          <a:prstGeom prst="rect">
            <a:avLst/>
          </a:prstGeom>
          <a:noFill/>
        </p:spPr>
        <p:txBody>
          <a:bodyPr wrap="square">
            <a:spAutoFit/>
          </a:bodyPr>
          <a:lstStyle/>
          <a:p>
            <a:pPr>
              <a:spcAft>
                <a:spcPts val="1080"/>
              </a:spcAft>
            </a:pPr>
            <a:r>
              <a:rPr sz="2400" b="1">
                <a:solidFill>
                  <a:srgbClr val="FFFFFF"/>
                </a:solidFill>
              </a:rPr>
              <a:t>The refinery demo: one MILP solved, proved, priced, broken, repaired, re-planned</a:t>
            </a:r>
          </a:p>
        </p:txBody>
      </p:sp>
      <p:sp>
        <p:nvSpPr>
          <p:cNvPr id="4" name="Rectangle 3"/>
          <p:cNvSpPr/>
          <p:nvPr/>
        </p:nvSpPr>
        <p:spPr>
          <a:xfrm>
            <a:off x="0" y="6446520"/>
            <a:ext cx="12191695" cy="4114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11277295" cy="365760"/>
          </a:xfrm>
          <a:prstGeom prst="rect">
            <a:avLst/>
          </a:prstGeom>
          <a:noFill/>
        </p:spPr>
        <p:txBody>
          <a:bodyPr wrap="square">
            <a:spAutoFit/>
          </a:bodyPr>
          <a:lstStyle/>
          <a:p>
            <a:pPr>
              <a:spcAft>
                <a:spcPts val="450"/>
              </a:spcAft>
            </a:pPr>
            <a:r>
              <a:rPr sz="1000" b="0">
                <a:solidFill>
                  <a:srgbClr val="555555"/>
                </a:solidFill>
              </a:rPr>
              <a:t>Source: docs/FINALE.md; bench/results/scenarios-de0f393a.csv (de0f393a); bench/results/million-cpu-b561fba.csv (b561fba); model from bench/case_studies/refinery/generator.py</a:t>
            </a:r>
          </a:p>
        </p:txBody>
      </p:sp>
      <p:sp>
        <p:nvSpPr>
          <p:cNvPr id="6" name="TextBox 5"/>
          <p:cNvSpPr txBox="1"/>
          <p:nvPr/>
        </p:nvSpPr>
        <p:spPr>
          <a:xfrm>
            <a:off x="457200" y="1280160"/>
            <a:ext cx="6766560" cy="4754880"/>
          </a:xfrm>
          <a:prstGeom prst="rect">
            <a:avLst/>
          </a:prstGeom>
          <a:noFill/>
        </p:spPr>
        <p:txBody>
          <a:bodyPr wrap="square">
            <a:spAutoFit/>
          </a:bodyPr>
          <a:lstStyle/>
          <a:p>
            <a:pPr>
              <a:spcAft>
                <a:spcPts val="540"/>
              </a:spcAft>
            </a:pPr>
            <a:r>
              <a:rPr sz="1200" b="0">
                <a:solidFill>
                  <a:srgbClr val="555555"/>
                </a:solidFill>
              </a:rPr>
              <a:t>demo/finale.sh, eight steps, each one printed line and its time, the script stopping at the first check that fails:</a:t>
            </a:r>
          </a:p>
          <a:p>
            <a:pPr>
              <a:spcAft>
                <a:spcPts val="540"/>
              </a:spcAft>
            </a:pPr>
            <a:r>
              <a:rPr sz="1200" b="0">
                <a:solidFill>
                  <a:srgbClr val="555555"/>
                </a:solidFill>
              </a:rPr>
              <a:t>1. solve the small refinery MILP with a VIPR certificate (on the card when there is one)</a:t>
            </a:r>
          </a:p>
          <a:p>
            <a:pPr>
              <a:spcAft>
                <a:spcPts val="540"/>
              </a:spcAft>
            </a:pPr>
            <a:r>
              <a:rPr sz="1200" b="0">
                <a:solidFill>
                  <a:srgbClr val="555555"/>
                </a:solidFill>
              </a:rPr>
              <a:t>2. prove it: the certificate in exact rational arithmetic, the plan by the verifier</a:t>
            </a:r>
          </a:p>
          <a:p>
            <a:pPr>
              <a:spcAft>
                <a:spcPts val="540"/>
              </a:spcAft>
            </a:pPr>
            <a:r>
              <a:rPr sz="1200" b="0">
                <a:solidFill>
                  <a:srgbClr val="555555"/>
                </a:solidFill>
              </a:rPr>
              <a:t>3. plan: the binding limits and their shadow prices, each re-solved one unit looser, so a degenerate price is not mistaken for the value of the next unit</a:t>
            </a:r>
          </a:p>
          <a:p>
            <a:pPr>
              <a:spcAft>
                <a:spcPts val="540"/>
              </a:spcAft>
            </a:pPr>
            <a:r>
              <a:rPr sz="1200" b="0">
                <a:solidFill>
                  <a:srgbClr val="555555"/>
                </a:solidFill>
              </a:rPr>
              <a:t>4. repair: a delivery commitment raised until the plant cannot meet it; the Farkas proof checked, the smallest repair found</a:t>
            </a:r>
          </a:p>
          <a:p>
            <a:pPr>
              <a:spcAft>
                <a:spcPts val="540"/>
              </a:spcAft>
            </a:pPr>
            <a:r>
              <a:rPr sz="1200" b="0">
                <a:solidFill>
                  <a:srgbClr val="555555"/>
                </a:solidFill>
              </a:rPr>
              <a:t>5. bundle: an evidence bundle made and replayed, the proof checked again</a:t>
            </a:r>
          </a:p>
          <a:p>
            <a:pPr>
              <a:spcAft>
                <a:spcPts val="540"/>
              </a:spcAft>
            </a:pPr>
            <a:r>
              <a:rPr sz="1200" b="0">
                <a:solidFill>
                  <a:srgbClr val="555555"/>
                </a:solidFill>
              </a:rPr>
              <a:t>6. prices: twenty crude price sets through sankhya scenarios</a:t>
            </a:r>
          </a:p>
          <a:p>
            <a:pPr>
              <a:spcAft>
                <a:spcPts val="540"/>
              </a:spcAft>
            </a:pPr>
            <a:r>
              <a:rPr sz="1200" b="0">
                <a:solidFill>
                  <a:srgbClr val="555555"/>
                </a:solidFill>
              </a:rPr>
              <a:t>7. replan: today's prices and demands, cold and from yesterday's basis (--warm-start)</a:t>
            </a:r>
          </a:p>
          <a:p>
            <a:pPr>
              <a:spcAft>
                <a:spcPts val="540"/>
              </a:spcAft>
            </a:pPr>
            <a:r>
              <a:rPr sz="1200" b="0">
                <a:solidFill>
                  <a:srgbClr val="555555"/>
                </a:solidFill>
              </a:rPr>
              <a:t>8. units: a minimum run rate as semi-continuous columns, branched natively and through the binary reformulation, the two answers verified and equal</a:t>
            </a:r>
          </a:p>
          <a:p>
            <a:pPr>
              <a:spcAft>
                <a:spcPts val="540"/>
              </a:spcAft>
            </a:pPr>
            <a:r>
              <a:rPr sz="1200" b="0">
                <a:solidFill>
                  <a:srgbClr val="555555"/>
                </a:solidFill>
              </a:rPr>
              <a:t>Synthetic data from a fixed seed: no real industrial model has been run (a stated limit).</a:t>
            </a:r>
          </a:p>
        </p:txBody>
      </p:sp>
      <p:sp>
        <p:nvSpPr>
          <p:cNvPr id="7" name="TextBox 6"/>
          <p:cNvSpPr txBox="1"/>
          <p:nvPr/>
        </p:nvSpPr>
        <p:spPr>
          <a:xfrm>
            <a:off x="7589520" y="1371600"/>
            <a:ext cx="4206240" cy="822960"/>
          </a:xfrm>
          <a:prstGeom prst="rect">
            <a:avLst/>
          </a:prstGeom>
          <a:noFill/>
        </p:spPr>
        <p:txBody>
          <a:bodyPr wrap="square">
            <a:spAutoFit/>
          </a:bodyPr>
          <a:lstStyle/>
          <a:p>
            <a:pPr>
              <a:spcAft>
                <a:spcPts val="1620"/>
              </a:spcAft>
            </a:pPr>
            <a:r>
              <a:rPr sz="3600" b="1">
                <a:solidFill>
                  <a:srgbClr val="D96C1F"/>
                </a:solidFill>
              </a:rPr>
              <a:t>1130 of 1130</a:t>
            </a:r>
          </a:p>
        </p:txBody>
      </p:sp>
      <p:sp>
        <p:nvSpPr>
          <p:cNvPr id="8" name="TextBox 7"/>
          <p:cNvSpPr txBox="1"/>
          <p:nvPr/>
        </p:nvSpPr>
        <p:spPr>
          <a:xfrm>
            <a:off x="7589520" y="2148840"/>
            <a:ext cx="4206240" cy="1097280"/>
          </a:xfrm>
          <a:prstGeom prst="rect">
            <a:avLst/>
          </a:prstGeom>
          <a:noFill/>
        </p:spPr>
        <p:txBody>
          <a:bodyPr wrap="square">
            <a:spAutoFit/>
          </a:bodyPr>
          <a:lstStyle/>
          <a:p>
            <a:pPr>
              <a:spcAft>
                <a:spcPts val="540"/>
              </a:spcAft>
            </a:pPr>
            <a:r>
              <a:rPr sz="1200" b="0">
                <a:solidFill>
                  <a:srgbClr val="555555"/>
                </a:solidFill>
              </a:rPr>
              <a:t>scenarios verified, each re-solved from the base basis by the dual simplex and checked against its own model, agreeing with its single solve (bench/results/scenarios-de0f393a.csv)</a:t>
            </a:r>
          </a:p>
        </p:txBody>
      </p:sp>
      <p:sp>
        <p:nvSpPr>
          <p:cNvPr id="9" name="TextBox 8"/>
          <p:cNvSpPr txBox="1"/>
          <p:nvPr/>
        </p:nvSpPr>
        <p:spPr>
          <a:xfrm>
            <a:off x="7589520" y="3931920"/>
            <a:ext cx="4206240" cy="822960"/>
          </a:xfrm>
          <a:prstGeom prst="rect">
            <a:avLst/>
          </a:prstGeom>
          <a:noFill/>
        </p:spPr>
        <p:txBody>
          <a:bodyPr wrap="square">
            <a:spAutoFit/>
          </a:bodyPr>
          <a:lstStyle/>
          <a:p>
            <a:pPr>
              <a:spcAft>
                <a:spcPts val="1620"/>
              </a:spcAft>
            </a:pPr>
            <a:r>
              <a:rPr sz="3600" b="1">
                <a:solidFill>
                  <a:srgbClr val="D96C1F"/>
                </a:solidFill>
              </a:rPr>
              <a:t>1,007,400 rows</a:t>
            </a:r>
          </a:p>
        </p:txBody>
      </p:sp>
      <p:sp>
        <p:nvSpPr>
          <p:cNvPr id="10" name="TextBox 9"/>
          <p:cNvSpPr txBox="1"/>
          <p:nvPr/>
        </p:nvSpPr>
        <p:spPr>
          <a:xfrm>
            <a:off x="7589520" y="4709160"/>
            <a:ext cx="4206240" cy="1097280"/>
          </a:xfrm>
          <a:prstGeom prst="rect">
            <a:avLst/>
          </a:prstGeom>
          <a:noFill/>
        </p:spPr>
        <p:txBody>
          <a:bodyPr wrap="square">
            <a:spAutoFit/>
          </a:bodyPr>
          <a:lstStyle/>
          <a:p>
            <a:pPr>
              <a:spcAft>
                <a:spcPts val="540"/>
              </a:spcAft>
            </a:pPr>
            <a:r>
              <a:rPr sz="1200" b="0">
                <a:solidFill>
                  <a:srgbClr val="555555"/>
                </a:solidFill>
              </a:rPr>
              <a:t>the refinery family at a million rows, optimal and verified on the CPU (transport 1,000,000 rows by pdhg in 119 s; refinery 1,007,400 rows by pdhg in 2,336 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914400"/>
          </a:xfrm>
          <a:prstGeom prst="rect">
            <a:avLst/>
          </a:prstGeom>
          <a:noFill/>
        </p:spPr>
        <p:txBody>
          <a:bodyPr wrap="square">
            <a:spAutoFit/>
          </a:bodyPr>
          <a:lstStyle/>
          <a:p>
            <a:pPr>
              <a:spcAft>
                <a:spcPts val="1080"/>
              </a:spcAft>
            </a:pPr>
            <a:r>
              <a:rPr sz="2400" b="1">
                <a:solidFill>
                  <a:srgbClr val="FFFFFF"/>
                </a:solidFill>
              </a:rPr>
              <a:t>Packaging: no compiler needed, checked on a fresh machine by CI</a:t>
            </a:r>
          </a:p>
        </p:txBody>
      </p:sp>
      <p:sp>
        <p:nvSpPr>
          <p:cNvPr id="4" name="Rectangle 3"/>
          <p:cNvSpPr/>
          <p:nvPr/>
        </p:nvSpPr>
        <p:spPr>
          <a:xfrm>
            <a:off x="0" y="6446520"/>
            <a:ext cx="12191695" cy="4114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11277295" cy="365760"/>
          </a:xfrm>
          <a:prstGeom prst="rect">
            <a:avLst/>
          </a:prstGeom>
          <a:noFill/>
        </p:spPr>
        <p:txBody>
          <a:bodyPr wrap="square">
            <a:spAutoFit/>
          </a:bodyPr>
          <a:lstStyle/>
          <a:p>
            <a:pPr>
              <a:spcAft>
                <a:spcPts val="450"/>
              </a:spcAft>
            </a:pPr>
            <a:r>
              <a:rPr sz="1000" b="0">
                <a:solidFill>
                  <a:srgbClr val="555555"/>
                </a:solidFill>
              </a:rPr>
              <a:t>Source: .github/workflows/release.yml; docs/PROVENANCE.md section 2b; the v1.0.0-rc2 release</a:t>
            </a:r>
          </a:p>
        </p:txBody>
      </p:sp>
      <p:sp>
        <p:nvSpPr>
          <p:cNvPr id="6" name="TextBox 5"/>
          <p:cNvSpPr txBox="1"/>
          <p:nvPr/>
        </p:nvSpPr>
        <p:spPr>
          <a:xfrm>
            <a:off x="457200" y="1280160"/>
            <a:ext cx="5669280" cy="4754880"/>
          </a:xfrm>
          <a:prstGeom prst="rect">
            <a:avLst/>
          </a:prstGeom>
          <a:noFill/>
        </p:spPr>
        <p:txBody>
          <a:bodyPr wrap="square">
            <a:spAutoFit/>
          </a:bodyPr>
          <a:lstStyle/>
          <a:p>
            <a:pPr>
              <a:spcAft>
                <a:spcPts val="585"/>
              </a:spcAft>
            </a:pPr>
            <a:r>
              <a:rPr sz="1300" b="0">
                <a:solidFill>
                  <a:srgbClr val="555555"/>
                </a:solidFill>
              </a:rPr>
              <a:t>Release archives: Linux x86-64 CPU and CUDA (runtime linked in), Windows x64 CPU, each unpacked and run on a runner with no compiler before the draft release exists.</a:t>
            </a:r>
          </a:p>
          <a:p>
            <a:pPr>
              <a:spcAft>
                <a:spcPts val="585"/>
              </a:spcAft>
            </a:pPr>
            <a:r>
              <a:rPr sz="1300" b="0">
                <a:solidFill>
                  <a:srgbClr val="555555"/>
                </a:solidFill>
              </a:rPr>
              <a:t>Python wheels: ctypes over the C API, one wheel per platform for CPython 3.9 to 3.13, each installed into a clean venv of every version, the demo solved and verified there.</a:t>
            </a:r>
          </a:p>
          <a:p>
            <a:pPr>
              <a:spcAft>
                <a:spcPts val="585"/>
              </a:spcAft>
            </a:pPr>
            <a:r>
              <a:rPr sz="1300" b="0">
                <a:solidFill>
                  <a:srgbClr val="555555"/>
                </a:solidFill>
              </a:rPr>
              <a:t>Container image on ghcr.io: the CUDA build, the verifier and the demo models.</a:t>
            </a:r>
          </a:p>
          <a:p>
            <a:pPr>
              <a:spcAft>
                <a:spcPts val="585"/>
              </a:spcAft>
            </a:pPr>
            <a:r>
              <a:rPr sz="1300" b="0">
                <a:solidFill>
                  <a:srgbClr val="555555"/>
                </a:solidFill>
              </a:rPr>
              <a:t>C API (include/sankhya/sankhya.h), CLI (solve, diagnose, scenarios, engines, info), Python bindings, and adapters that make SANKHYA the solver under PuLP, Pyomo and CVXPY models.</a:t>
            </a:r>
          </a:p>
          <a:p>
            <a:pPr>
              <a:spcAft>
                <a:spcPts val="585"/>
              </a:spcAft>
            </a:pPr>
            <a:r>
              <a:rPr sz="1300" b="0">
                <a:solidFill>
                  <a:srgbClr val="555555"/>
                </a:solidFill>
              </a:rPr>
              <a:t>Every archive's MANIFEST.txt records the commit, compiler and libraries; CI fails the packaging if any of them is an optimization solver.</a:t>
            </a:r>
          </a:p>
        </p:txBody>
      </p:sp>
      <p:sp>
        <p:nvSpPr>
          <p:cNvPr id="7" name="TextBox 6"/>
          <p:cNvSpPr txBox="1"/>
          <p:nvPr/>
        </p:nvSpPr>
        <p:spPr>
          <a:xfrm>
            <a:off x="6400800" y="1371600"/>
            <a:ext cx="5303520" cy="2743200"/>
          </a:xfrm>
          <a:prstGeom prst="rect">
            <a:avLst/>
          </a:prstGeom>
          <a:noFill/>
        </p:spPr>
        <p:txBody>
          <a:bodyPr wrap="square">
            <a:spAutoFit/>
          </a:bodyPr>
          <a:lstStyle/>
          <a:p>
            <a:pPr>
              <a:spcAft>
                <a:spcPts val="495"/>
              </a:spcAft>
            </a:pPr>
            <a:r>
              <a:rPr sz="1100" b="0">
                <a:solidFill>
                  <a:srgbClr val="142B4F"/>
                </a:solidFill>
                <a:latin typeface="Courier New"/>
              </a:rPr>
              <a:t>pip install https://github.com/thegoodengineers/SANKHYA/releases/download/v1.0.0-rc2/sankhya-1.0.0-py3-none-manylinux_2_35_x86_64.whl</a:t>
            </a:r>
          </a:p>
          <a:p>
            <a:pPr>
              <a:spcAft>
                <a:spcPts val="495"/>
              </a:spcAft>
            </a:pPr>
            <a:r>
              <a:rPr sz="1100" b="0">
                <a:solidFill>
                  <a:srgbClr val="142B4F"/>
                </a:solidFill>
                <a:latin typeface="Courier New"/>
              </a:rPr>
              <a:t>python -c "import sankhya; print(sankhya.Model.read('demo/crude_blend.mps').solve().objective)"</a:t>
            </a:r>
          </a:p>
          <a:p>
            <a:pPr>
              <a:spcAft>
                <a:spcPts val="495"/>
              </a:spcAft>
            </a:pPr>
            <a:r>
              <a:rPr sz="1100" b="0">
                <a:solidFill>
                  <a:srgbClr val="142B4F"/>
                </a:solidFill>
                <a:latin typeface="Courier New"/>
              </a:rPr>
              <a:t>sankhya solve demo/crude_blend.mps --write-sol blend.sol</a:t>
            </a:r>
          </a:p>
          <a:p>
            <a:pPr>
              <a:spcAft>
                <a:spcPts val="495"/>
              </a:spcAft>
            </a:pPr>
            <a:r>
              <a:rPr sz="1100" b="0">
                <a:solidFill>
                  <a:srgbClr val="142B4F"/>
                </a:solidFill>
                <a:latin typeface="Courier New"/>
              </a:rPr>
              <a:t>python tools/verify_solution.py demo/crude_blend.mps blend.sol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914400"/>
          </a:xfrm>
          <a:prstGeom prst="rect">
            <a:avLst/>
          </a:prstGeom>
          <a:noFill/>
        </p:spPr>
        <p:txBody>
          <a:bodyPr wrap="square">
            <a:spAutoFit/>
          </a:bodyPr>
          <a:lstStyle/>
          <a:p>
            <a:pPr>
              <a:spcAft>
                <a:spcPts val="1080"/>
              </a:spcAft>
            </a:pPr>
            <a:r>
              <a:rPr sz="2400" b="1">
                <a:solidFill>
                  <a:srgbClr val="FFFFFF"/>
                </a:solidFill>
              </a:rPr>
              <a:t>Honest limits: what the numbers do not say</a:t>
            </a:r>
          </a:p>
        </p:txBody>
      </p:sp>
      <p:sp>
        <p:nvSpPr>
          <p:cNvPr id="4" name="Rectangle 3"/>
          <p:cNvSpPr/>
          <p:nvPr/>
        </p:nvSpPr>
        <p:spPr>
          <a:xfrm>
            <a:off x="0" y="6446520"/>
            <a:ext cx="12191695" cy="4114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11277295" cy="365760"/>
          </a:xfrm>
          <a:prstGeom prst="rect">
            <a:avLst/>
          </a:prstGeom>
          <a:noFill/>
        </p:spPr>
        <p:txBody>
          <a:bodyPr wrap="square">
            <a:spAutoFit/>
          </a:bodyPr>
          <a:lstStyle/>
          <a:p>
            <a:pPr>
              <a:spcAft>
                <a:spcPts val="450"/>
              </a:spcAft>
            </a:pPr>
            <a:r>
              <a:rPr sz="1000" b="0">
                <a:solidFill>
                  <a:srgbClr val="555555"/>
                </a:solidFill>
              </a:rPr>
              <a:t>Source: bench/results/head-to-head-netlib-5e490ef.csv; bench/results/head-to-head-kennington-1860864.csv; bench/results/mittelmann-72123ff.csv; bench/results/miplib-ad57c03.csv; bench/results/stress-d32b3847.csv; bench/results/certified-gap-netlib-full-0134c92.csv; docs/NEGATIVE-RESULTS.md</a:t>
            </a:r>
          </a:p>
        </p:txBody>
      </p:sp>
      <p:sp>
        <p:nvSpPr>
          <p:cNvPr id="6" name="TextBox 5"/>
          <p:cNvSpPr txBox="1"/>
          <p:nvPr/>
        </p:nvSpPr>
        <p:spPr>
          <a:xfrm>
            <a:off x="457200" y="1280160"/>
            <a:ext cx="11277295" cy="4937760"/>
          </a:xfrm>
          <a:prstGeom prst="rect">
            <a:avLst/>
          </a:prstGeom>
          <a:noFill/>
        </p:spPr>
        <p:txBody>
          <a:bodyPr wrap="square">
            <a:spAutoFit/>
          </a:bodyPr>
          <a:lstStyle/>
          <a:p>
            <a:pPr>
              <a:spcAft>
                <a:spcPts val="630"/>
              </a:spcAft>
            </a:pPr>
            <a:r>
              <a:rPr sz="1400" b="0">
                <a:solidFill>
                  <a:srgbClr val="555555"/>
                </a:solidFill>
              </a:rPr>
              <a:t>Speed against HiGHS: Netlib SGM 0.575 s against 0.163 s; Kennington 9.430 s against 1.855 s, slower on 11 of 16 instances.</a:t>
            </a:r>
          </a:p>
          <a:p>
            <a:pPr>
              <a:spcAft>
                <a:spcPts val="630"/>
              </a:spcAft>
            </a:pPr>
            <a:r>
              <a:rPr sz="1400" b="0">
                <a:solidFill>
                  <a:srgbClr val="555555"/>
                </a:solidFill>
              </a:rPr>
              <a:t>Large LPs: Mittelmann 5 of 12 inside the limit.</a:t>
            </a:r>
          </a:p>
          <a:p>
            <a:pPr>
              <a:spcAft>
                <a:spcPts val="630"/>
              </a:spcAft>
            </a:pPr>
            <a:r>
              <a:rPr sz="1400" b="0">
                <a:solidFill>
                  <a:srgbClr val="555555"/>
                </a:solidFill>
              </a:rPr>
              <a:t>MILP proofs: 11 of 30 MIPLIB 2017 instances proved, 14 at the published optimum.</a:t>
            </a:r>
          </a:p>
          <a:p>
            <a:pPr>
              <a:spcAft>
                <a:spcPts val="630"/>
              </a:spcAft>
            </a:pPr>
            <a:r>
              <a:rPr sz="1400" b="0">
                <a:solidFill>
                  <a:srgbClr val="555555"/>
                </a:solidFill>
              </a:rPr>
              <a:t>Declined instances: stress set 15 of 126 declined (0 wrong); Maros-Meszaros 106 of 138 optimal; safe bounds, 18 of 93 optimal answers with no finite bound, and they say so.</a:t>
            </a:r>
          </a:p>
          <a:p>
            <a:pPr>
              <a:spcAft>
                <a:spcPts val="630"/>
              </a:spcAft>
            </a:pPr>
            <a:r>
              <a:rPr sz="1400" b="0">
                <a:solidFill>
                  <a:srgbClr val="555555"/>
                </a:solidFill>
              </a:rPr>
              <a:t>The GPU: 1.00x at the low end of the 6 cells, a loss below about 10,000 rows, 2 cells at the time limit; HiGHS on the same host beats the card on brazil3 at 1e-8.</a:t>
            </a:r>
          </a:p>
          <a:p>
            <a:pPr>
              <a:spcAft>
                <a:spcPts val="630"/>
              </a:spcAft>
            </a:pPr>
            <a:r>
              <a:rPr sz="1400" b="0">
                <a:solidFill>
                  <a:srgbClr val="555555"/>
                </a:solidFill>
              </a:rPr>
              <a:t>No real industrial model: every refinery number is from a generated model with a fixed seed.</a:t>
            </a:r>
          </a:p>
          <a:p>
            <a:pPr>
              <a:spcAft>
                <a:spcPts val="630"/>
              </a:spcAft>
            </a:pPr>
            <a:r>
              <a:rPr sz="1400" b="0">
                <a:solidFill>
                  <a:srgbClr val="555555"/>
                </a:solidFill>
              </a:rPr>
              <a:t>What was built and then demoted, left opt-in or withdrawn, with the number that did it, is kept by name in docs/NEGATIVE-RESULTS.md.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914400"/>
          </a:xfrm>
          <a:prstGeom prst="rect">
            <a:avLst/>
          </a:prstGeom>
          <a:noFill/>
        </p:spPr>
        <p:txBody>
          <a:bodyPr wrap="square">
            <a:spAutoFit/>
          </a:bodyPr>
          <a:lstStyle/>
          <a:p>
            <a:pPr>
              <a:spcAft>
                <a:spcPts val="1080"/>
              </a:spcAft>
            </a:pPr>
            <a:r>
              <a:rPr sz="2400" b="1">
                <a:solidFill>
                  <a:srgbClr val="FFFFFF"/>
                </a:solidFill>
              </a:rPr>
              <a:t>Provenance: not built on any solver, and CI proves it on every build</a:t>
            </a:r>
          </a:p>
        </p:txBody>
      </p:sp>
      <p:sp>
        <p:nvSpPr>
          <p:cNvPr id="4" name="Rectangle 3"/>
          <p:cNvSpPr/>
          <p:nvPr/>
        </p:nvSpPr>
        <p:spPr>
          <a:xfrm>
            <a:off x="0" y="6446520"/>
            <a:ext cx="12191695" cy="4114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11277295" cy="365760"/>
          </a:xfrm>
          <a:prstGeom prst="rect">
            <a:avLst/>
          </a:prstGeom>
          <a:noFill/>
        </p:spPr>
        <p:txBody>
          <a:bodyPr wrap="square">
            <a:spAutoFit/>
          </a:bodyPr>
          <a:lstStyle/>
          <a:p>
            <a:pPr>
              <a:spcAft>
                <a:spcPts val="450"/>
              </a:spcAft>
            </a:pPr>
            <a:r>
              <a:rPr sz="1000" b="0">
                <a:solidFill>
                  <a:srgbClr val="555555"/>
                </a:solidFill>
              </a:rPr>
              <a:t>Source: docs/PROVENANCE.md; docs/sbom.spdx.json; .github/workflows/ci.yml, job provenance</a:t>
            </a:r>
          </a:p>
        </p:txBody>
      </p:sp>
      <p:sp>
        <p:nvSpPr>
          <p:cNvPr id="6" name="TextBox 5"/>
          <p:cNvSpPr txBox="1"/>
          <p:nvPr/>
        </p:nvSpPr>
        <p:spPr>
          <a:xfrm>
            <a:off x="457200" y="1280160"/>
            <a:ext cx="11277295" cy="4937760"/>
          </a:xfrm>
          <a:prstGeom prst="rect">
            <a:avLst/>
          </a:prstGeom>
          <a:noFill/>
        </p:spPr>
        <p:txBody>
          <a:bodyPr wrap="square">
            <a:spAutoFit/>
          </a:bodyPr>
          <a:lstStyle/>
          <a:p>
            <a:pPr>
              <a:spcAft>
                <a:spcPts val="630"/>
              </a:spcAft>
            </a:pPr>
            <a:r>
              <a:rPr sz="1400" b="0">
                <a:solidFill>
                  <a:srgbClr val="555555"/>
                </a:solidFill>
              </a:rPr>
              <a:t>The red line: no source from CBC, Clp, HiGHS, SCIP, SoPlex, GLPK, lp_solve, OSQP, PDLP, cuPDLP, OR-Tools, Gurobi, CPLEX or Xpress was copied, vendored, linked or read: not a simplex, not a cut, not an MPS reader.</a:t>
            </a:r>
          </a:p>
          <a:p>
            <a:pPr>
              <a:spcAft>
                <a:spcPts val="630"/>
              </a:spcAft>
            </a:pPr>
            <a:r>
              <a:rPr sz="1400" b="0">
                <a:solidFill>
                  <a:srgbClr val="555555"/>
                </a:solidFill>
              </a:rPr>
              <a:t>Every algorithm names the paper or textbook it was written from, above the code and in the citation table (Dantzig, Chvatal, Maros, Koberstein, Forrest-Tomlin, Harris, Markowitz, Chambolle-Pock, Applegate et al., Mehrotra, Neumaier-Shcherbina, ...).</a:t>
            </a:r>
          </a:p>
          <a:p>
            <a:pPr>
              <a:spcAft>
                <a:spcPts val="630"/>
              </a:spcAft>
            </a:pPr>
            <a:r>
              <a:rPr sz="1400" b="0">
                <a:solidFill>
                  <a:srgbClr val="555555"/>
                </a:solidFill>
              </a:rPr>
              <a:t>Dependencies are the non-solver kind, each with its licence and one line on why it is not a solver: fmt, CLI11, nlohmann/json, zlib, GoogleTest, cuSPARSE, CUB, OpenMP; HiGHS, SCIP, CBC and GLPK exist only as separate processes in the benchmark harness.</a:t>
            </a:r>
          </a:p>
          <a:p>
            <a:pPr>
              <a:spcAft>
                <a:spcPts val="630"/>
              </a:spcAft>
            </a:pPr>
            <a:r>
              <a:rPr sz="1400" b="0">
                <a:solidFill>
                  <a:srgbClr val="555555"/>
                </a:solidFill>
              </a:rPr>
              <a:t>CI prints the full link line and ldd of the binary and fails if a solver library ever appears; the SPDX SBOM is committed, not only produced; every path the citation table names must exist.</a:t>
            </a:r>
          </a:p>
          <a:p>
            <a:pPr>
              <a:spcAft>
                <a:spcPts val="630"/>
              </a:spcAft>
            </a:pPr>
            <a:r>
              <a:rPr sz="1400" b="0">
                <a:solidFill>
                  <a:srgbClr val="555555"/>
                </a:solidFill>
              </a:rPr>
              <a:t>Judgement calls, where a line could be argued, are logged with their reasoning in the same document rather than decided silently.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914400"/>
          </a:xfrm>
          <a:prstGeom prst="rect">
            <a:avLst/>
          </a:prstGeom>
          <a:noFill/>
        </p:spPr>
        <p:txBody>
          <a:bodyPr wrap="square">
            <a:spAutoFit/>
          </a:bodyPr>
          <a:lstStyle/>
          <a:p>
            <a:pPr>
              <a:spcAft>
                <a:spcPts val="1080"/>
              </a:spcAft>
            </a:pPr>
            <a:r>
              <a:rPr sz="2400" b="1">
                <a:solidFill>
                  <a:srgbClr val="FFFFFF"/>
                </a:solidFill>
              </a:rPr>
              <a:t>Team: the good engineers</a:t>
            </a:r>
          </a:p>
        </p:txBody>
      </p:sp>
      <p:sp>
        <p:nvSpPr>
          <p:cNvPr id="4" name="Rectangle 3"/>
          <p:cNvSpPr/>
          <p:nvPr/>
        </p:nvSpPr>
        <p:spPr>
          <a:xfrm>
            <a:off x="0" y="6446520"/>
            <a:ext cx="12191695" cy="4114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11277295" cy="365760"/>
          </a:xfrm>
          <a:prstGeom prst="rect">
            <a:avLst/>
          </a:prstGeom>
          <a:noFill/>
        </p:spPr>
        <p:txBody>
          <a:bodyPr wrap="square">
            <a:spAutoFit/>
          </a:bodyPr>
          <a:lstStyle/>
          <a:p>
            <a:pPr>
              <a:spcAft>
                <a:spcPts val="450"/>
              </a:spcAft>
            </a:pPr>
            <a:r>
              <a:rPr sz="1000" b="0">
                <a:solidFill>
                  <a:srgbClr val="555555"/>
                </a:solidFill>
              </a:rPr>
              <a:t>Source: sankhya-solver.vercel.app/team; git log</a:t>
            </a:r>
          </a:p>
        </p:txBody>
      </p:sp>
      <p:sp>
        <p:nvSpPr>
          <p:cNvPr id="6" name="TextBox 5"/>
          <p:cNvSpPr txBox="1"/>
          <p:nvPr/>
        </p:nvSpPr>
        <p:spPr>
          <a:xfrm>
            <a:off x="457200" y="1463040"/>
            <a:ext cx="3657600" cy="548640"/>
          </a:xfrm>
          <a:prstGeom prst="rect">
            <a:avLst/>
          </a:prstGeom>
          <a:noFill/>
        </p:spPr>
        <p:txBody>
          <a:bodyPr wrap="square">
            <a:spAutoFit/>
          </a:bodyPr>
          <a:lstStyle/>
          <a:p>
            <a:pPr>
              <a:spcAft>
                <a:spcPts val="990"/>
              </a:spcAft>
            </a:pPr>
            <a:r>
              <a:rPr sz="2200" b="1">
                <a:solidFill>
                  <a:srgbClr val="142B4F"/>
                </a:solidFill>
              </a:rPr>
              <a:t>Bhumika Gurav</a:t>
            </a:r>
          </a:p>
        </p:txBody>
      </p:sp>
      <p:sp>
        <p:nvSpPr>
          <p:cNvPr id="7" name="TextBox 6"/>
          <p:cNvSpPr txBox="1"/>
          <p:nvPr/>
        </p:nvSpPr>
        <p:spPr>
          <a:xfrm>
            <a:off x="457200" y="2011680"/>
            <a:ext cx="3657600" cy="457200"/>
          </a:xfrm>
          <a:prstGeom prst="rect">
            <a:avLst/>
          </a:prstGeom>
          <a:noFill/>
        </p:spPr>
        <p:txBody>
          <a:bodyPr wrap="square">
            <a:spAutoFit/>
          </a:bodyPr>
          <a:lstStyle/>
          <a:p>
            <a:pPr>
              <a:spcAft>
                <a:spcPts val="630"/>
              </a:spcAft>
            </a:pPr>
            <a:r>
              <a:rPr sz="1400" b="0">
                <a:solidFill>
                  <a:srgbClr val="555555"/>
                </a:solidFill>
              </a:rPr>
              <a:t>team lead</a:t>
            </a:r>
          </a:p>
        </p:txBody>
      </p:sp>
      <p:sp>
        <p:nvSpPr>
          <p:cNvPr id="8" name="TextBox 7"/>
          <p:cNvSpPr txBox="1"/>
          <p:nvPr/>
        </p:nvSpPr>
        <p:spPr>
          <a:xfrm>
            <a:off x="4216298" y="1463040"/>
            <a:ext cx="3657600" cy="548640"/>
          </a:xfrm>
          <a:prstGeom prst="rect">
            <a:avLst/>
          </a:prstGeom>
          <a:noFill/>
        </p:spPr>
        <p:txBody>
          <a:bodyPr wrap="square">
            <a:spAutoFit/>
          </a:bodyPr>
          <a:lstStyle/>
          <a:p>
            <a:pPr>
              <a:spcAft>
                <a:spcPts val="990"/>
              </a:spcAft>
            </a:pPr>
            <a:r>
              <a:rPr sz="2200" b="1">
                <a:solidFill>
                  <a:srgbClr val="142B4F"/>
                </a:solidFill>
              </a:rPr>
              <a:t>Deekshith K</a:t>
            </a:r>
          </a:p>
        </p:txBody>
      </p:sp>
      <p:sp>
        <p:nvSpPr>
          <p:cNvPr id="9" name="TextBox 8"/>
          <p:cNvSpPr txBox="1"/>
          <p:nvPr/>
        </p:nvSpPr>
        <p:spPr>
          <a:xfrm>
            <a:off x="4216298" y="2011680"/>
            <a:ext cx="3657600" cy="457200"/>
          </a:xfrm>
          <a:prstGeom prst="rect">
            <a:avLst/>
          </a:prstGeom>
          <a:noFill/>
        </p:spPr>
        <p:txBody>
          <a:bodyPr wrap="square">
            <a:spAutoFit/>
          </a:bodyPr>
          <a:lstStyle/>
          <a:p>
            <a:pPr>
              <a:spcAft>
                <a:spcPts val="630"/>
              </a:spcAft>
            </a:pPr>
            <a:r>
              <a:rPr sz="1400" b="0">
                <a:solidFill>
                  <a:srgbClr val="555555"/>
                </a:solidFill>
              </a:rPr>
              <a:t>engineer</a:t>
            </a:r>
          </a:p>
        </p:txBody>
      </p:sp>
      <p:sp>
        <p:nvSpPr>
          <p:cNvPr id="10" name="TextBox 9"/>
          <p:cNvSpPr txBox="1"/>
          <p:nvPr/>
        </p:nvSpPr>
        <p:spPr>
          <a:xfrm>
            <a:off x="7975396" y="1463040"/>
            <a:ext cx="3657600" cy="548640"/>
          </a:xfrm>
          <a:prstGeom prst="rect">
            <a:avLst/>
          </a:prstGeom>
          <a:noFill/>
        </p:spPr>
        <p:txBody>
          <a:bodyPr wrap="square">
            <a:spAutoFit/>
          </a:bodyPr>
          <a:lstStyle/>
          <a:p>
            <a:pPr>
              <a:spcAft>
                <a:spcPts val="990"/>
              </a:spcAft>
            </a:pPr>
            <a:r>
              <a:rPr sz="2200" b="1">
                <a:solidFill>
                  <a:srgbClr val="142B4F"/>
                </a:solidFill>
              </a:rPr>
              <a:t>Anjankumar L N</a:t>
            </a:r>
          </a:p>
        </p:txBody>
      </p:sp>
      <p:sp>
        <p:nvSpPr>
          <p:cNvPr id="11" name="TextBox 10"/>
          <p:cNvSpPr txBox="1"/>
          <p:nvPr/>
        </p:nvSpPr>
        <p:spPr>
          <a:xfrm>
            <a:off x="7975396" y="2011680"/>
            <a:ext cx="3657600" cy="457200"/>
          </a:xfrm>
          <a:prstGeom prst="rect">
            <a:avLst/>
          </a:prstGeom>
          <a:noFill/>
        </p:spPr>
        <p:txBody>
          <a:bodyPr wrap="square">
            <a:spAutoFit/>
          </a:bodyPr>
          <a:lstStyle/>
          <a:p>
            <a:pPr>
              <a:spcAft>
                <a:spcPts val="630"/>
              </a:spcAft>
            </a:pPr>
            <a:r>
              <a:rPr sz="1400" b="0">
                <a:solidFill>
                  <a:srgbClr val="555555"/>
                </a:solidFill>
              </a:rPr>
              <a:t>engineer</a:t>
            </a:r>
          </a:p>
        </p:txBody>
      </p:sp>
      <p:sp>
        <p:nvSpPr>
          <p:cNvPr id="12" name="TextBox 11"/>
          <p:cNvSpPr txBox="1"/>
          <p:nvPr/>
        </p:nvSpPr>
        <p:spPr>
          <a:xfrm>
            <a:off x="457200" y="3474720"/>
            <a:ext cx="3657600" cy="548640"/>
          </a:xfrm>
          <a:prstGeom prst="rect">
            <a:avLst/>
          </a:prstGeom>
          <a:noFill/>
        </p:spPr>
        <p:txBody>
          <a:bodyPr wrap="square">
            <a:spAutoFit/>
          </a:bodyPr>
          <a:lstStyle/>
          <a:p>
            <a:pPr>
              <a:spcAft>
                <a:spcPts val="990"/>
              </a:spcAft>
            </a:pPr>
            <a:r>
              <a:rPr sz="2200" b="1">
                <a:solidFill>
                  <a:srgbClr val="142B4F"/>
                </a:solidFill>
              </a:rPr>
              <a:t>Abhijeet Sharma</a:t>
            </a:r>
          </a:p>
        </p:txBody>
      </p:sp>
      <p:sp>
        <p:nvSpPr>
          <p:cNvPr id="13" name="TextBox 12"/>
          <p:cNvSpPr txBox="1"/>
          <p:nvPr/>
        </p:nvSpPr>
        <p:spPr>
          <a:xfrm>
            <a:off x="457200" y="4023360"/>
            <a:ext cx="3657600" cy="457200"/>
          </a:xfrm>
          <a:prstGeom prst="rect">
            <a:avLst/>
          </a:prstGeom>
          <a:noFill/>
        </p:spPr>
        <p:txBody>
          <a:bodyPr wrap="square">
            <a:spAutoFit/>
          </a:bodyPr>
          <a:lstStyle/>
          <a:p>
            <a:pPr>
              <a:spcAft>
                <a:spcPts val="630"/>
              </a:spcAft>
            </a:pPr>
            <a:r>
              <a:rPr sz="1400" b="0">
                <a:solidFill>
                  <a:srgbClr val="555555"/>
                </a:solidFill>
              </a:rPr>
              <a:t>engineer</a:t>
            </a:r>
          </a:p>
        </p:txBody>
      </p:sp>
      <p:sp>
        <p:nvSpPr>
          <p:cNvPr id="14" name="TextBox 13"/>
          <p:cNvSpPr txBox="1"/>
          <p:nvPr/>
        </p:nvSpPr>
        <p:spPr>
          <a:xfrm>
            <a:off x="4216298" y="3474720"/>
            <a:ext cx="3657600" cy="548640"/>
          </a:xfrm>
          <a:prstGeom prst="rect">
            <a:avLst/>
          </a:prstGeom>
          <a:noFill/>
        </p:spPr>
        <p:txBody>
          <a:bodyPr wrap="square">
            <a:spAutoFit/>
          </a:bodyPr>
          <a:lstStyle/>
          <a:p>
            <a:pPr>
              <a:spcAft>
                <a:spcPts val="990"/>
              </a:spcAft>
            </a:pPr>
            <a:r>
              <a:rPr sz="2200" b="1">
                <a:solidFill>
                  <a:srgbClr val="142B4F"/>
                </a:solidFill>
              </a:rPr>
              <a:t>Ayush V Upadhye</a:t>
            </a:r>
          </a:p>
        </p:txBody>
      </p:sp>
      <p:sp>
        <p:nvSpPr>
          <p:cNvPr id="15" name="TextBox 14"/>
          <p:cNvSpPr txBox="1"/>
          <p:nvPr/>
        </p:nvSpPr>
        <p:spPr>
          <a:xfrm>
            <a:off x="4216298" y="4023360"/>
            <a:ext cx="3657600" cy="457200"/>
          </a:xfrm>
          <a:prstGeom prst="rect">
            <a:avLst/>
          </a:prstGeom>
          <a:noFill/>
        </p:spPr>
        <p:txBody>
          <a:bodyPr wrap="square">
            <a:spAutoFit/>
          </a:bodyPr>
          <a:lstStyle/>
          <a:p>
            <a:pPr>
              <a:spcAft>
                <a:spcPts val="630"/>
              </a:spcAft>
            </a:pPr>
            <a:r>
              <a:rPr sz="1400" b="0">
                <a:solidFill>
                  <a:srgbClr val="555555"/>
                </a:solidFill>
              </a:rPr>
              <a:t>engineer</a:t>
            </a:r>
          </a:p>
        </p:txBody>
      </p:sp>
      <p:sp>
        <p:nvSpPr>
          <p:cNvPr id="16" name="TextBox 15"/>
          <p:cNvSpPr txBox="1"/>
          <p:nvPr/>
        </p:nvSpPr>
        <p:spPr>
          <a:xfrm>
            <a:off x="7975396" y="3474720"/>
            <a:ext cx="3657600" cy="548640"/>
          </a:xfrm>
          <a:prstGeom prst="rect">
            <a:avLst/>
          </a:prstGeom>
          <a:noFill/>
        </p:spPr>
        <p:txBody>
          <a:bodyPr wrap="square">
            <a:spAutoFit/>
          </a:bodyPr>
          <a:lstStyle/>
          <a:p>
            <a:pPr>
              <a:spcAft>
                <a:spcPts val="990"/>
              </a:spcAft>
            </a:pPr>
            <a:r>
              <a:rPr sz="2200" b="1">
                <a:solidFill>
                  <a:srgbClr val="142B4F"/>
                </a:solidFill>
              </a:rPr>
              <a:t>Chirag Honnyal</a:t>
            </a:r>
          </a:p>
        </p:txBody>
      </p:sp>
      <p:sp>
        <p:nvSpPr>
          <p:cNvPr id="17" name="TextBox 16"/>
          <p:cNvSpPr txBox="1"/>
          <p:nvPr/>
        </p:nvSpPr>
        <p:spPr>
          <a:xfrm>
            <a:off x="7975396" y="4023360"/>
            <a:ext cx="3657600" cy="457200"/>
          </a:xfrm>
          <a:prstGeom prst="rect">
            <a:avLst/>
          </a:prstGeom>
          <a:noFill/>
        </p:spPr>
        <p:txBody>
          <a:bodyPr wrap="square">
            <a:spAutoFit/>
          </a:bodyPr>
          <a:lstStyle/>
          <a:p>
            <a:pPr>
              <a:spcAft>
                <a:spcPts val="630"/>
              </a:spcAft>
            </a:pPr>
            <a:r>
              <a:rPr sz="1400" b="0">
                <a:solidFill>
                  <a:srgbClr val="555555"/>
                </a:solidFill>
              </a:rPr>
              <a:t>engineer</a:t>
            </a:r>
          </a:p>
        </p:txBody>
      </p:sp>
      <p:sp>
        <p:nvSpPr>
          <p:cNvPr id="18" name="TextBox 17"/>
          <p:cNvSpPr txBox="1"/>
          <p:nvPr/>
        </p:nvSpPr>
        <p:spPr>
          <a:xfrm>
            <a:off x="457200" y="5577840"/>
            <a:ext cx="11277295" cy="731520"/>
          </a:xfrm>
          <a:prstGeom prst="rect">
            <a:avLst/>
          </a:prstGeom>
          <a:noFill/>
        </p:spPr>
        <p:txBody>
          <a:bodyPr wrap="square">
            <a:spAutoFit/>
          </a:bodyPr>
          <a:lstStyle/>
          <a:p>
            <a:pPr>
              <a:spcAft>
                <a:spcPts val="585"/>
              </a:spcAft>
            </a:pPr>
            <a:r>
              <a:rPr sz="1300" b="0">
                <a:solidFill>
                  <a:srgbClr val="555555"/>
                </a:solidFill>
              </a:rPr>
              <a:t>Rules the repository enforces on us: no number without a CSV, correct over fast, the paper cited above the code, and what is missing said with the number.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914400"/>
          </a:xfrm>
          <a:prstGeom prst="rect">
            <a:avLst/>
          </a:prstGeom>
          <a:noFill/>
        </p:spPr>
        <p:txBody>
          <a:bodyPr wrap="square">
            <a:spAutoFit/>
          </a:bodyPr>
          <a:lstStyle/>
          <a:p>
            <a:pPr>
              <a:spcAft>
                <a:spcPts val="1080"/>
              </a:spcAft>
            </a:pPr>
            <a:r>
              <a:rPr sz="2400" b="1">
                <a:solidFill>
                  <a:srgbClr val="FFFFFF"/>
                </a:solidFill>
              </a:rPr>
              <a:t>Where to look</a:t>
            </a:r>
          </a:p>
        </p:txBody>
      </p:sp>
      <p:sp>
        <p:nvSpPr>
          <p:cNvPr id="4" name="Rectangle 3"/>
          <p:cNvSpPr/>
          <p:nvPr/>
        </p:nvSpPr>
        <p:spPr>
          <a:xfrm>
            <a:off x="0" y="6446520"/>
            <a:ext cx="12191695" cy="4114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11277295" cy="365760"/>
          </a:xfrm>
          <a:prstGeom prst="rect">
            <a:avLst/>
          </a:prstGeom>
          <a:noFill/>
        </p:spPr>
        <p:txBody>
          <a:bodyPr wrap="square">
            <a:spAutoFit/>
          </a:bodyPr>
          <a:lstStyle/>
          <a:p>
            <a:pPr>
              <a:spcAft>
                <a:spcPts val="450"/>
              </a:spcAft>
            </a:pPr>
            <a:r>
              <a:rPr sz="1000" b="0">
                <a:solidFill>
                  <a:srgbClr val="555555"/>
                </a:solidFill>
              </a:rPr>
              <a:t>Source: README.md; docs/REPORT.pdf; docs/BENCHMARKS.md; docs/VIDEO.md; sankhya-solver.vercel.app</a:t>
            </a:r>
          </a:p>
        </p:txBody>
      </p:sp>
      <p:sp>
        <p:nvSpPr>
          <p:cNvPr id="6" name="TextBox 5"/>
          <p:cNvSpPr txBox="1"/>
          <p:nvPr/>
        </p:nvSpPr>
        <p:spPr>
          <a:xfrm>
            <a:off x="457200" y="1371600"/>
            <a:ext cx="11277295" cy="4572000"/>
          </a:xfrm>
          <a:prstGeom prst="rect">
            <a:avLst/>
          </a:prstGeom>
          <a:noFill/>
        </p:spPr>
        <p:txBody>
          <a:bodyPr wrap="square">
            <a:spAutoFit/>
          </a:bodyPr>
          <a:lstStyle/>
          <a:p>
            <a:pPr>
              <a:spcAft>
                <a:spcPts val="720"/>
              </a:spcAft>
            </a:pPr>
            <a:r>
              <a:rPr sz="1600" b="0">
                <a:solidFill>
                  <a:srgbClr val="142B4F"/>
                </a:solidFill>
              </a:rPr>
              <a:t>github.com/thegoodengineers/SANKHYA: the source, the CSVs, the CI runs.</a:t>
            </a:r>
          </a:p>
          <a:p>
            <a:pPr>
              <a:spcAft>
                <a:spcPts val="720"/>
              </a:spcAft>
            </a:pPr>
            <a:r>
              <a:rPr sz="1600" b="0">
                <a:solidFill>
                  <a:srgbClr val="142B4F"/>
                </a:solidFill>
              </a:rPr>
              <a:t>docs/REPORT.pdf: this evidence as one document with a 25-question jury Q&amp;A, every answer naming its file.</a:t>
            </a:r>
          </a:p>
          <a:p>
            <a:pPr>
              <a:spcAft>
                <a:spcPts val="720"/>
              </a:spcAft>
            </a:pPr>
            <a:r>
              <a:rPr sz="1600" b="0">
                <a:solidFill>
                  <a:srgbClr val="142B4F"/>
                </a:solidFill>
              </a:rPr>
              <a:t>docs/BENCHMARKS.md: every suite, every failure named, generated from the CSVs.</a:t>
            </a:r>
          </a:p>
          <a:p>
            <a:pPr>
              <a:spcAft>
                <a:spcPts val="720"/>
              </a:spcAft>
            </a:pPr>
            <a:r>
              <a:rPr sz="1600" b="0">
                <a:solidFill>
                  <a:srgbClr val="142B4F"/>
                </a:solidFill>
              </a:rPr>
              <a:t>docs/VIDEO.md: the four-minute walkthrough, command by command.</a:t>
            </a:r>
          </a:p>
          <a:p>
            <a:pPr>
              <a:spcAft>
                <a:spcPts val="720"/>
              </a:spcAft>
            </a:pPr>
            <a:r>
              <a:rPr sz="1600" b="0">
                <a:solidFill>
                  <a:srgbClr val="142B4F"/>
                </a:solidFill>
              </a:rPr>
              <a:t>sankhya-solver.vercel.app: the problem, the solver, the evidence, how to run it, the team.</a:t>
            </a:r>
          </a:p>
          <a:p>
            <a:pPr>
              <a:spcAft>
                <a:spcPts val="720"/>
              </a:spcAft>
            </a:pPr>
            <a:r>
              <a:rPr sz="1600" b="0">
                <a:solidFill>
                  <a:srgbClr val="142B4F"/>
                </a:solidFill>
              </a:rPr>
              <a:t>Clone it, build it, run scripts/reproduce.sh, and report any number that does not reproduce.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