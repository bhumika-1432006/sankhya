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bench/results/netlib-full-945cb4f.csv, bench/results/netlib-infeasible-5a39fb2.csv, bench/results/certified-gap-netlib-full-945cb4f.csv,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94 of 94</a:t>
                      </a:r>
                    </a:p>
                  </a:txBody>
                  <a:tcPr>
                    <a:solidFill>
                      <a:srgbClr val="FFFFFF"/>
                    </a:solidFill>
                  </a:tcPr>
                </a:tc>
                <a:tc>
                  <a:txBody>
                    <a:bodyPr/>
                    <a:lstStyle/>
                    <a:p>
                      <a:r>
                        <a:rPr sz="1100" b="0">
                          <a:solidFill>
                            <a:srgbClr val="555555"/>
                          </a:solidFill>
                        </a:rPr>
                        <a:t>bench/results/netlib-full-945cb4f.csv</a:t>
                      </a:r>
                    </a:p>
                  </a:txBody>
                  <a:tcPr>
                    <a:solidFill>
                      <a:srgbClr val="FFFFFF"/>
                    </a:solidFill>
                  </a:tcPr>
                </a:tc>
                <a:tc>
                  <a:txBody>
                    <a:bodyPr/>
                    <a:lstStyle/>
                    <a:p>
                      <a:r>
                        <a:rPr sz="1100" b="0">
                          <a:solidFill>
                            <a:srgbClr val="555555"/>
                          </a:solidFill>
                        </a:rPr>
                        <a:t>945cb4f</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94 of 94</a:t>
                      </a:r>
                    </a:p>
                  </a:txBody>
                  <a:tcPr>
                    <a:solidFill>
                      <a:srgbClr val="F2F4F7"/>
                    </a:solidFill>
                  </a:tcPr>
                </a:tc>
                <a:tc>
                  <a:txBody>
                    <a:bodyPr/>
                    <a:lstStyle/>
                    <a:p>
                      <a:r>
                        <a:rPr sz="1100" b="0">
                          <a:solidFill>
                            <a:srgbClr val="555555"/>
                          </a:solidFill>
                        </a:rPr>
                        <a:t>bench/results/netlib-full-945cb4f.csv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91 of 94</a:t>
                      </a:r>
                    </a:p>
                  </a:txBody>
                  <a:tcPr>
                    <a:solidFill>
                      <a:srgbClr val="F2F4F7"/>
                    </a:solidFill>
                  </a:tcPr>
                </a:tc>
                <a:tc>
                  <a:txBody>
                    <a:bodyPr/>
                    <a:lstStyle/>
                    <a:p>
                      <a:r>
                        <a:rPr sz="1100" b="0">
                          <a:solidFill>
                            <a:srgbClr val="555555"/>
                          </a:solidFill>
                        </a:rPr>
                        <a:t>bench/results/certified-gap-netlib-full-945cb4f.csv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bench/results/head-to-head-maros-meszaros-d0eb672.csv (d0eb672); bench/results/maros-meszaros-cad720c.csv (cad720c);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320040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117</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4.066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102</a:t>
                      </a:r>
                    </a:p>
                  </a:txBody>
                  <a:tcPr>
                    <a:solidFill>
                      <a:srgbClr val="F2F4F7"/>
                    </a:solidFill>
                  </a:tcPr>
                </a:tc>
                <a:tc>
                  <a:txBody>
                    <a:bodyPr/>
                    <a:lstStyle/>
                    <a:p>
                      <a:r>
                        <a:rPr sz="1200" b="0">
                          <a:solidFill>
                            <a:srgbClr val="555555"/>
                          </a:solidFill>
                        </a:rPr>
                        <a:t>96</a:t>
                      </a:r>
                    </a:p>
                  </a:txBody>
                  <a:tcPr>
                    <a:solidFill>
                      <a:srgbClr val="F2F4F7"/>
                    </a:solidFill>
                  </a:tcPr>
                </a:tc>
                <a:tc>
                  <a:txBody>
                    <a:bodyPr/>
                    <a:lstStyle/>
                    <a:p>
                      <a:r>
                        <a:rPr sz="1200" b="0">
                          <a:solidFill>
                            <a:srgbClr val="555555"/>
                          </a:solidFill>
                        </a:rPr>
                        <a:t>31</a:t>
                      </a:r>
                    </a:p>
                  </a:txBody>
                  <a:tcPr>
                    <a:solidFill>
                      <a:srgbClr val="F2F4F7"/>
                    </a:solidFill>
                  </a:tcPr>
                </a:tc>
                <a:tc>
                  <a:txBody>
                    <a:bodyPr/>
                    <a:lstStyle/>
                    <a:p>
                      <a:r>
                        <a:rPr sz="1200" b="0">
                          <a:solidFill>
                            <a:srgbClr val="555555"/>
                          </a:solidFill>
                        </a:rPr>
                        <a:t>35.808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26.584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129</a:t>
                      </a:r>
                    </a:p>
                  </a:txBody>
                  <a:tcPr>
                    <a:solidFill>
                      <a:srgbClr val="F2F4F7"/>
                    </a:solidFill>
                  </a:tcPr>
                </a:tc>
                <a:tc>
                  <a:txBody>
                    <a:bodyPr/>
                    <a:lstStyle/>
                    <a:p>
                      <a:r>
                        <a:rPr sz="1200" b="0">
                          <a:solidFill>
                            <a:srgbClr val="555555"/>
                          </a:solidFill>
                        </a:rPr>
                        <a:t>115</a:t>
                      </a:r>
                    </a:p>
                  </a:txBody>
                  <a:tcPr>
                    <a:solidFill>
                      <a:srgbClr val="F2F4F7"/>
                    </a:solidFill>
                  </a:tcPr>
                </a:tc>
                <a:tc>
                  <a:txBody>
                    <a:bodyPr/>
                    <a:lstStyle/>
                    <a:p>
                      <a:r>
                        <a:rPr sz="1200" b="0">
                          <a:solidFill>
                            <a:srgbClr val="555555"/>
                          </a:solidFill>
                        </a:rPr>
                        <a:t>64</a:t>
                      </a:r>
                    </a:p>
                  </a:txBody>
                  <a:tcPr>
                    <a:solidFill>
                      <a:srgbClr val="F2F4F7"/>
                    </a:solidFill>
                  </a:tcPr>
                </a:tc>
                <a:tc>
                  <a:txBody>
                    <a:bodyPr/>
                    <a:lstStyle/>
                    <a:p>
                      <a:r>
                        <a:rPr sz="1200" b="0">
                          <a:solidFill>
                            <a:srgbClr val="555555"/>
                          </a:solidFill>
                        </a:rPr>
                        <a:t>20.001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r h="320040">
                <a:tc>
                  <a:txBody>
                    <a:bodyPr/>
                    <a:lstStyle/>
                    <a:p>
                      <a:r>
                        <a:rPr sz="1200" b="0">
                          <a:solidFill>
                            <a:srgbClr val="555555"/>
                          </a:solidFill>
                        </a:rPr>
                        <a:t>OSQP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65</a:t>
                      </a:r>
                    </a:p>
                  </a:txBody>
                  <a:tcPr>
                    <a:solidFill>
                      <a:srgbClr val="F2F4F7"/>
                    </a:solidFill>
                  </a:tcPr>
                </a:tc>
                <a:tc>
                  <a:txBody>
                    <a:bodyPr/>
                    <a:lstStyle/>
                    <a:p>
                      <a:r>
                        <a:rPr sz="1200" b="0">
                          <a:solidFill>
                            <a:srgbClr val="555555"/>
                          </a:solidFill>
                        </a:rPr>
                        <a:t>61</a:t>
                      </a:r>
                    </a:p>
                  </a:txBody>
                  <a:tcPr>
                    <a:solidFill>
                      <a:srgbClr val="F2F4F7"/>
                    </a:solidFill>
                  </a:tcPr>
                </a:tc>
                <a:tc>
                  <a:txBody>
                    <a:bodyPr/>
                    <a:lstStyle/>
                    <a:p>
                      <a:r>
                        <a:rPr sz="1200" b="0">
                          <a:solidFill>
                            <a:srgbClr val="555555"/>
                          </a:solidFill>
                        </a:rPr>
                        <a:t>48</a:t>
                      </a:r>
                    </a:p>
                  </a:txBody>
                  <a:tcPr>
                    <a:solidFill>
                      <a:srgbClr val="F2F4F7"/>
                    </a:solidFill>
                  </a:tcPr>
                </a:tc>
                <a:tc>
                  <a:txBody>
                    <a:bodyPr/>
                    <a:lstStyle/>
                    <a:p>
                      <a:r>
                        <a:rPr sz="1200" b="0">
                          <a:solidFill>
                            <a:srgbClr val="555555"/>
                          </a:solidFill>
                        </a:rPr>
                        <a:t>26.650 s</a:t>
                      </a:r>
                    </a:p>
                  </a:txBody>
                  <a:tcPr>
                    <a:solidFill>
                      <a:srgbClr val="F2F4F7"/>
                    </a:solidFill>
                  </a:tcPr>
                </a:tc>
              </a:tr>
              <a:tr h="320040">
                <a:tc>
                  <a:txBody>
                    <a:bodyPr/>
                    <a:lstStyle/>
                    <a:p>
                      <a:r>
                        <a:rPr sz="1200" b="0">
                          <a:solidFill>
                            <a:srgbClr val="555555"/>
                          </a:solidFill>
                        </a:rPr>
                        <a:t>Clarabel</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132</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10.062 s</a:t>
                      </a:r>
                    </a:p>
                  </a:txBody>
                  <a:tcPr>
                    <a:solidFill>
                      <a:srgbClr val="FFFFFF"/>
                    </a:solidFill>
                  </a:tcPr>
                </a:tc>
              </a:tr>
              <a:tr h="320040">
                <a:tc>
                  <a:txBody>
                    <a:bodyPr/>
                    <a:lstStyle/>
                    <a:p>
                      <a:r>
                        <a:rPr sz="1200" b="0">
                          <a:solidFill>
                            <a:srgbClr val="555555"/>
                          </a:solidFill>
                        </a:rPr>
                        <a:t>PIQP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137</a:t>
                      </a:r>
                    </a:p>
                  </a:txBody>
                  <a:tcPr>
                    <a:solidFill>
                      <a:srgbClr val="F2F4F7"/>
                    </a:solidFill>
                  </a:tcPr>
                </a:tc>
                <a:tc>
                  <a:txBody>
                    <a:bodyPr/>
                    <a:lstStyle/>
                    <a:p>
                      <a:r>
                        <a:rPr sz="1200" b="0">
                          <a:solidFill>
                            <a:srgbClr val="555555"/>
                          </a:solidFill>
                        </a:rPr>
                        <a:t>130</a:t>
                      </a:r>
                    </a:p>
                  </a:txBody>
                  <a:tcPr>
                    <a:solidFill>
                      <a:srgbClr val="F2F4F7"/>
                    </a:solidFill>
                  </a:tcPr>
                </a:tc>
                <a:tc>
                  <a:txBody>
                    <a:bodyPr/>
                    <a:lstStyle/>
                    <a:p>
                      <a:r>
                        <a:rPr sz="1200" b="0">
                          <a:solidFill>
                            <a:srgbClr val="555555"/>
                          </a:solidFill>
                        </a:rPr>
                        <a:t>135</a:t>
                      </a:r>
                    </a:p>
                  </a:txBody>
                  <a:tcPr>
                    <a:solidFill>
                      <a:srgbClr val="F2F4F7"/>
                    </a:solidFill>
                  </a:tcPr>
                </a:tc>
                <a:tc>
                  <a:txBody>
                    <a:bodyPr/>
                    <a:lstStyle/>
                    <a:p>
                      <a:r>
                        <a:rPr sz="1200" b="0">
                          <a:solidFill>
                            <a:srgbClr val="555555"/>
                          </a:solidFill>
                        </a:rPr>
                        <a:t>1.905 s</a:t>
                      </a:r>
                    </a:p>
                  </a:txBody>
                  <a:tcPr>
                    <a:solidFill>
                      <a:srgbClr val="F2F4F7"/>
                    </a:solidFill>
                  </a:tcPr>
                </a:tc>
              </a:tr>
              <a:tr h="320040">
                <a:tc>
                  <a:txBody>
                    <a:bodyPr/>
                    <a:lstStyle/>
                    <a:p>
                      <a:r>
                        <a:rPr sz="1200" b="0">
                          <a:solidFill>
                            <a:srgbClr val="555555"/>
                          </a:solidFill>
                        </a:rPr>
                        <a:t>SCS</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125</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72</a:t>
                      </a:r>
                    </a:p>
                  </a:txBody>
                  <a:tcPr>
                    <a:solidFill>
                      <a:srgbClr val="FFFFFF"/>
                    </a:solidFill>
                  </a:tcPr>
                </a:tc>
                <a:tc>
                  <a:txBody>
                    <a:bodyPr/>
                    <a:lstStyle/>
                    <a:p>
                      <a:r>
                        <a:rPr sz="1200" b="0">
                          <a:solidFill>
                            <a:srgbClr val="555555"/>
                          </a:solidFill>
                        </a:rPr>
                        <a:t>16.235 s</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258 rival QP answers in this run, and only verified runs count for time. Against HiGHS instance by instance: faster on 91, tie on 26, slower on 3 of 120.</a:t>
            </a:r>
          </a:p>
          <a:p>
            <a:pPr>
              <a:spcAft>
                <a:spcPts val="540"/>
              </a:spcAft>
            </a:pPr>
            <a:r>
              <a:rPr sz="1200" b="0">
                <a:solidFill>
                  <a:srgbClr val="555555"/>
                </a:solidFill>
              </a:rPr>
              <a:t>Alone, on the laptop: 117 of 138 at the published objective, 0 optimal answers rejected (bench/results/maros-meszaros-cad720c.csv).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bench/results/certified-gap-netlib-full-945cb4f.csv;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119 of 138 optimal; safe bounds, 2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